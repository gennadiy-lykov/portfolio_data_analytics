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CDBF2D9D-2888-4A41-928C-F6454452D05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ny\Desktop\&#1050;&#1091;&#1088;&#1089;&#1086;&#1074;&#1072;&#1103;\&#1050;&#1091;&#1088;&#1089;&#1086;&#1074;&#1072;&#1103;%20&#1070;&#1085;&#1080;&#1090;-&#1101;&#1082;&#1086;&#1085;&#1086;&#1084;&#1080;&#1082;&#1072;%20-%20&#1051;&#1099;&#1082;&#1086;&#1074;%20&#1043;.&#104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ny\Desktop\&#1050;&#1091;&#1088;&#1089;&#1086;&#1074;&#1072;&#1103;\&#1050;&#1091;&#1088;&#1089;&#1086;&#1074;&#1072;&#1103;%20&#1070;&#1085;&#1080;&#1090;-&#1101;&#1082;&#1086;&#1085;&#1086;&#1084;&#1080;&#1082;&#1072;%20-%20&#1051;&#1099;&#1082;&#1086;&#1074;%20&#1043;.&#1040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ny\Desktop\&#1050;&#1091;&#1088;&#1089;&#1086;&#1074;&#1072;&#1103;\&#1050;&#1091;&#1088;&#1089;&#1086;&#1074;&#1072;&#1103;%20&#1070;&#1085;&#1080;&#1090;-&#1101;&#1082;&#1086;&#1085;&#1086;&#1084;&#1080;&#1082;&#1072;%20-%20&#1051;&#1099;&#1082;&#1086;&#1074;%20&#1043;.&#1040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Users\Sony\Desktop\&#1050;&#1091;&#1088;&#1089;&#1086;&#1074;&#1072;&#1103;\&#1050;&#1091;&#1088;&#1089;&#1086;&#1074;&#1072;&#1103;%20&#1070;&#1085;&#1080;&#1090;-&#1101;&#1082;&#1086;&#1085;&#1086;&#1084;&#1080;&#1082;&#1072;%20-%20&#1051;&#1099;&#1082;&#1086;&#1074;%20&#1043;.&#1040;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Users\Sony\Desktop\&#1050;&#1091;&#1088;&#1089;&#1086;&#1074;&#1072;&#1103;\&#1050;&#1091;&#1088;&#1089;&#1086;&#1074;&#1072;&#1103;%20&#1070;&#1085;&#1080;&#1090;-&#1101;&#1082;&#1086;&#1085;&#1086;&#1084;&#1080;&#1082;&#1072;%20-%20&#1051;&#1099;&#1082;&#1086;&#1074;%20&#1043;.&#1040;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ny\Desktop\&#1050;&#1091;&#1088;&#1089;&#1086;&#1074;&#1072;&#1103;\&#1050;&#1091;&#1088;&#1089;&#1086;&#1074;&#1072;&#1103;%20&#1070;&#1085;&#1080;&#1090;-&#1101;&#1082;&#1086;&#1085;&#1086;&#1084;&#1080;&#1082;&#1072;%20-%20&#1051;&#1099;&#1082;&#1086;&#1074;%20&#1043;.&#1040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ny\Desktop\&#1050;&#1091;&#1088;&#1089;&#1086;&#1074;&#1072;&#1103;\&#1050;&#1091;&#1088;&#1089;&#1086;&#1074;&#1072;&#1103;%20&#1070;&#1085;&#1080;&#1090;-&#1101;&#1082;&#1086;&#1085;&#1086;&#1084;&#1080;&#1082;&#1072;%20-%20&#1051;&#1099;&#1082;&#1086;&#1074;%20&#1043;.&#1040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C:\Users\Sony\Desktop\&#1050;&#1091;&#1088;&#1089;&#1086;&#1074;&#1072;&#1103;\&#1050;&#1091;&#1088;&#1089;&#1086;&#1074;&#1072;&#1103;%20&#1070;&#1085;&#1080;&#1090;-&#1101;&#1082;&#1086;&#1085;&#1086;&#1084;&#1080;&#1082;&#1072;%20-%20&#1051;&#1099;&#1082;&#1086;&#1074;%20&#1043;.&#1040;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C:\Users\Sony\Desktop\&#1050;&#1091;&#1088;&#1089;&#1086;&#1074;&#1072;&#1103;\&#1050;&#1091;&#1088;&#1089;&#1086;&#1074;&#1072;&#1103;%20&#1070;&#1085;&#1080;&#1090;-&#1101;&#1082;&#1086;&#1085;&#1086;&#1084;&#1080;&#1082;&#1072;%20-%20&#1051;&#1099;&#1082;&#1086;&#1074;%20&#1043;.&#1040;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oleObject" Target="file:///C:\Users\Sony\Desktop\&#1050;&#1091;&#1088;&#1089;&#1086;&#1074;&#1072;&#1103;\&#1050;&#1091;&#1088;&#1089;&#1086;&#1074;&#1072;&#1103;%20&#1070;&#1085;&#1080;&#1090;-&#1101;&#1082;&#1086;&#1085;&#1086;&#1084;&#1080;&#1082;&#1072;%20-%20&#1051;&#1099;&#1082;&#1086;&#1074;%20&#1043;.&#1040;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oleObject" Target="file:///C:\Users\Sony\Desktop\&#1050;&#1091;&#1088;&#1089;&#1086;&#1074;&#1072;&#1103;\&#1050;&#1091;&#1088;&#1089;&#1086;&#1074;&#1072;&#1103;%20&#1070;&#1085;&#1080;&#1090;-&#1101;&#1082;&#1086;&#1085;&#1086;&#1084;&#1080;&#1082;&#1072;%20-%20&#1051;&#1099;&#1082;&#1086;&#1074;%20&#1043;.&#1040;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oleObject" Target="file:///C:\Users\Sony\Desktop\&#1050;&#1091;&#1088;&#1089;&#1086;&#1074;&#1072;&#1103;\&#1050;&#1091;&#1088;&#1089;&#1086;&#1074;&#1072;&#1103;%20&#1070;&#1085;&#1080;&#1090;-&#1101;&#1082;&#1086;&#1085;&#1086;&#1084;&#1080;&#1082;&#1072;%20-%20&#1051;&#1099;&#1082;&#1086;&#1074;%20&#1043;.&#1040;.xlsx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oleObject" Target="file:///C:\Users\Sony\Desktop\&#1050;&#1091;&#1088;&#1089;&#1086;&#1074;&#1072;&#1103;\&#1050;&#1091;&#1088;&#1089;&#1086;&#1074;&#1072;&#1103;%20&#1070;&#1085;&#1080;&#1090;-&#1101;&#1082;&#1086;&#1085;&#1086;&#1084;&#1080;&#1082;&#1072;%20-%20&#1051;&#1099;&#1082;&#1086;&#1074;%20&#1043;.&#1040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ru-RU"/>
              <a:t>Статистика подписок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Визуализация!$U$3</c:f>
              <c:strCache>
                <c:ptCount val="1"/>
                <c:pt idx="0">
                  <c:v>Новые
подписки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Визуализация!$T$4:$T$9</c:f>
              <c:strCache>
                <c:ptCount val="6"/>
                <c:pt idx="0">
                  <c:v>мар</c:v>
                </c:pt>
                <c:pt idx="1">
                  <c:v>апр</c:v>
                </c:pt>
                <c:pt idx="2">
                  <c:v>май</c:v>
                </c:pt>
                <c:pt idx="3">
                  <c:v>июн</c:v>
                </c:pt>
                <c:pt idx="4">
                  <c:v>июл</c:v>
                </c:pt>
                <c:pt idx="5">
                  <c:v>авг</c:v>
                </c:pt>
              </c:strCache>
            </c:strRef>
          </c:cat>
          <c:val>
            <c:numRef>
              <c:f>Визуализация!$U$4:$U$9</c:f>
              <c:numCache>
                <c:formatCode>General</c:formatCode>
                <c:ptCount val="6"/>
                <c:pt idx="0">
                  <c:v>201</c:v>
                </c:pt>
                <c:pt idx="1">
                  <c:v>5122</c:v>
                </c:pt>
                <c:pt idx="2">
                  <c:v>4396</c:v>
                </c:pt>
                <c:pt idx="3">
                  <c:v>3255</c:v>
                </c:pt>
                <c:pt idx="4">
                  <c:v>1916</c:v>
                </c:pt>
                <c:pt idx="5">
                  <c:v>378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F2-4BB6-870A-5BC88F2244D3}"/>
            </c:ext>
          </c:extLst>
        </c:ser>
        <c:ser>
          <c:idx val="1"/>
          <c:order val="1"/>
          <c:tx>
            <c:strRef>
              <c:f>Визуализация!$V$3</c:f>
              <c:strCache>
                <c:ptCount val="1"/>
                <c:pt idx="0">
                  <c:v>Повторные подписки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CF2-4BB6-870A-5BC88F2244D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Визуализация!$T$4:$T$9</c:f>
              <c:strCache>
                <c:ptCount val="6"/>
                <c:pt idx="0">
                  <c:v>мар</c:v>
                </c:pt>
                <c:pt idx="1">
                  <c:v>апр</c:v>
                </c:pt>
                <c:pt idx="2">
                  <c:v>май</c:v>
                </c:pt>
                <c:pt idx="3">
                  <c:v>июн</c:v>
                </c:pt>
                <c:pt idx="4">
                  <c:v>июл</c:v>
                </c:pt>
                <c:pt idx="5">
                  <c:v>авг</c:v>
                </c:pt>
              </c:strCache>
            </c:strRef>
          </c:cat>
          <c:val>
            <c:numRef>
              <c:f>Визуализация!$V$4:$V$9</c:f>
              <c:numCache>
                <c:formatCode>0</c:formatCode>
                <c:ptCount val="6"/>
                <c:pt idx="0">
                  <c:v>0</c:v>
                </c:pt>
                <c:pt idx="1">
                  <c:v>167</c:v>
                </c:pt>
                <c:pt idx="2">
                  <c:v>4594.1691890653128</c:v>
                </c:pt>
                <c:pt idx="3">
                  <c:v>7067.7174858528651</c:v>
                </c:pt>
                <c:pt idx="4">
                  <c:v>8082.4940518284257</c:v>
                </c:pt>
                <c:pt idx="5">
                  <c:v>7654.1956088647448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CF2-4BB6-870A-5BC88F2244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30994864"/>
        <c:axId val="1330991952"/>
      </c:barChart>
      <c:lineChart>
        <c:grouping val="standard"/>
        <c:varyColors val="0"/>
        <c:ser>
          <c:idx val="2"/>
          <c:order val="2"/>
          <c:tx>
            <c:strRef>
              <c:f>Визуализация!$X$3</c:f>
              <c:strCache>
                <c:ptCount val="1"/>
                <c:pt idx="0">
                  <c:v>Retention</c:v>
                </c:pt>
              </c:strCache>
            </c:strRef>
          </c:tx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Визуализация!$T$4:$T$9</c:f>
              <c:strCache>
                <c:ptCount val="6"/>
                <c:pt idx="0">
                  <c:v>мар</c:v>
                </c:pt>
                <c:pt idx="1">
                  <c:v>апр</c:v>
                </c:pt>
                <c:pt idx="2">
                  <c:v>май</c:v>
                </c:pt>
                <c:pt idx="3">
                  <c:v>июн</c:v>
                </c:pt>
                <c:pt idx="4">
                  <c:v>июл</c:v>
                </c:pt>
                <c:pt idx="5">
                  <c:v>авг</c:v>
                </c:pt>
              </c:strCache>
            </c:strRef>
          </c:cat>
          <c:val>
            <c:numRef>
              <c:f>Визуализация!$X$4:$X$9</c:f>
              <c:numCache>
                <c:formatCode>0.00%</c:formatCode>
                <c:ptCount val="6"/>
                <c:pt idx="1">
                  <c:v>0.8308457711442786</c:v>
                </c:pt>
                <c:pt idx="2">
                  <c:v>0.86862718643700376</c:v>
                </c:pt>
                <c:pt idx="3">
                  <c:v>0.7861606758690689</c:v>
                </c:pt>
                <c:pt idx="4">
                  <c:v>0.78298123172559619</c:v>
                </c:pt>
                <c:pt idx="5">
                  <c:v>0.76553484646670578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CF2-4BB6-870A-5BC88F2244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0997776"/>
        <c:axId val="1331000272"/>
      </c:lineChart>
      <c:catAx>
        <c:axId val="13309948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30991952"/>
        <c:crosses val="autoZero"/>
        <c:auto val="1"/>
        <c:lblAlgn val="ctr"/>
        <c:lblOffset val="100"/>
        <c:noMultiLvlLbl val="0"/>
      </c:catAx>
      <c:valAx>
        <c:axId val="1330991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30994864"/>
        <c:crosses val="autoZero"/>
        <c:crossBetween val="between"/>
        <c:majorUnit val="1000"/>
      </c:valAx>
      <c:valAx>
        <c:axId val="1331000272"/>
        <c:scaling>
          <c:orientation val="minMax"/>
          <c:max val="0.87000000000000011"/>
          <c:min val="0.76000000000000012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30997776"/>
        <c:crosses val="max"/>
        <c:crossBetween val="between"/>
        <c:majorUnit val="1.0000000000000002E-2"/>
      </c:valAx>
      <c:catAx>
        <c:axId val="133099777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31000272"/>
        <c:crosses val="autoZero"/>
        <c:auto val="1"/>
        <c:lblAlgn val="ctr"/>
        <c:lblOffset val="100"/>
        <c:noMultiLvlLbl val="0"/>
      </c:cat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[Курсовая Юнит-экономика - Лыков Г.А.xlsx]Подписчики!Сводная таблица10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ru-RU" sz="1800"/>
              <a:t>Распределение подписчиков по часовым поясам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ru-RU"/>
        </a:p>
      </c:txPr>
    </c:title>
    <c:autoTitleDeleted val="0"/>
    <c:pivotFmts>
      <c:pivotFmt>
        <c:idx val="0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rgbClr val="FFC000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rgbClr val="FFC000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rgbClr val="FFC000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726262563782773"/>
          <c:y val="9.1219597640072175E-2"/>
          <c:w val="0.80545172521018826"/>
          <c:h val="0.8515461265886478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Подписчики!$G$20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Подписчики!$F$21:$F$43</c:f>
              <c:strCache>
                <c:ptCount val="22"/>
                <c:pt idx="0">
                  <c:v>UTC+1</c:v>
                </c:pt>
                <c:pt idx="1">
                  <c:v>UTC+2</c:v>
                </c:pt>
                <c:pt idx="2">
                  <c:v>UTC+0</c:v>
                </c:pt>
                <c:pt idx="3">
                  <c:v>UTC+3</c:v>
                </c:pt>
                <c:pt idx="4">
                  <c:v>UTC+4</c:v>
                </c:pt>
                <c:pt idx="5">
                  <c:v>UTC+7</c:v>
                </c:pt>
                <c:pt idx="6">
                  <c:v>UTC+5</c:v>
                </c:pt>
                <c:pt idx="7">
                  <c:v>UTC-4</c:v>
                </c:pt>
                <c:pt idx="8">
                  <c:v>UTC+6</c:v>
                </c:pt>
                <c:pt idx="9">
                  <c:v>UTC-5</c:v>
                </c:pt>
                <c:pt idx="10">
                  <c:v>UTC-8</c:v>
                </c:pt>
                <c:pt idx="11">
                  <c:v>UTC-3</c:v>
                </c:pt>
                <c:pt idx="12">
                  <c:v>UTC+9</c:v>
                </c:pt>
                <c:pt idx="13">
                  <c:v>UTC-6</c:v>
                </c:pt>
                <c:pt idx="14">
                  <c:v>UTC-7</c:v>
                </c:pt>
                <c:pt idx="15">
                  <c:v>UTC+8</c:v>
                </c:pt>
                <c:pt idx="16">
                  <c:v>UTC+12</c:v>
                </c:pt>
                <c:pt idx="17">
                  <c:v>UTC+11</c:v>
                </c:pt>
                <c:pt idx="18">
                  <c:v>UTC+10</c:v>
                </c:pt>
                <c:pt idx="19">
                  <c:v>UTC-1</c:v>
                </c:pt>
                <c:pt idx="20">
                  <c:v>UTC-9</c:v>
                </c:pt>
                <c:pt idx="21">
                  <c:v>UTC-2</c:v>
                </c:pt>
              </c:strCache>
            </c:strRef>
          </c:cat>
          <c:val>
            <c:numRef>
              <c:f>Подписчики!$G$21:$G$43</c:f>
              <c:numCache>
                <c:formatCode>0.00%</c:formatCode>
                <c:ptCount val="22"/>
                <c:pt idx="0">
                  <c:v>0.29601046435578809</c:v>
                </c:pt>
                <c:pt idx="1">
                  <c:v>0.21020274689339438</c:v>
                </c:pt>
                <c:pt idx="2">
                  <c:v>0.15892740353172008</c:v>
                </c:pt>
                <c:pt idx="3">
                  <c:v>0.14153041203400915</c:v>
                </c:pt>
                <c:pt idx="4">
                  <c:v>3.1589274035317201E-2</c:v>
                </c:pt>
                <c:pt idx="5">
                  <c:v>2.3217789404839765E-2</c:v>
                </c:pt>
                <c:pt idx="6">
                  <c:v>2.2367560497056901E-2</c:v>
                </c:pt>
                <c:pt idx="7">
                  <c:v>2.0013080444735119E-2</c:v>
                </c:pt>
                <c:pt idx="8">
                  <c:v>1.9816873773708304E-2</c:v>
                </c:pt>
                <c:pt idx="9">
                  <c:v>1.196860693263571E-2</c:v>
                </c:pt>
                <c:pt idx="10">
                  <c:v>9.7449313276651399E-3</c:v>
                </c:pt>
                <c:pt idx="11">
                  <c:v>9.61412688031393E-3</c:v>
                </c:pt>
                <c:pt idx="12">
                  <c:v>9.0909090909090905E-3</c:v>
                </c:pt>
                <c:pt idx="13">
                  <c:v>8.0444735120994114E-3</c:v>
                </c:pt>
                <c:pt idx="14">
                  <c:v>7.1288423806409422E-3</c:v>
                </c:pt>
                <c:pt idx="15">
                  <c:v>6.4748201438848919E-3</c:v>
                </c:pt>
                <c:pt idx="16">
                  <c:v>4.4473512099411378E-3</c:v>
                </c:pt>
                <c:pt idx="17">
                  <c:v>3.5971223021582736E-3</c:v>
                </c:pt>
                <c:pt idx="18">
                  <c:v>2.3544800523217788E-3</c:v>
                </c:pt>
                <c:pt idx="19">
                  <c:v>1.8966644865925442E-3</c:v>
                </c:pt>
                <c:pt idx="20">
                  <c:v>9.8103335513407457E-4</c:v>
                </c:pt>
                <c:pt idx="21">
                  <c:v>9.8103335513407457E-4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AA-4387-BD9C-18C2B1F839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417710992"/>
        <c:axId val="1417718064"/>
      </c:barChart>
      <c:catAx>
        <c:axId val="1417710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17718064"/>
        <c:crosses val="autoZero"/>
        <c:auto val="1"/>
        <c:lblAlgn val="ctr"/>
        <c:lblOffset val="100"/>
        <c:noMultiLvlLbl val="0"/>
      </c:catAx>
      <c:valAx>
        <c:axId val="1417718064"/>
        <c:scaling>
          <c:orientation val="minMax"/>
          <c:max val="0.30000000000000004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17710992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Статистика просмотров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9.3594880426870655E-2"/>
          <c:y val="8.9936818204538485E-2"/>
          <c:w val="0.83170509136575266"/>
          <c:h val="0.690582712307092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Визуализация!$Y$3</c:f>
              <c:strCache>
                <c:ptCount val="1"/>
                <c:pt idx="0">
                  <c:v>Первые просмотры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5.7380319139223972E-3"/>
                  <c:y val="5.477249401955135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DBF-47DD-AE79-ABFA88FFAF9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6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Визуализация!$T$4:$T$9</c:f>
              <c:strCache>
                <c:ptCount val="6"/>
                <c:pt idx="0">
                  <c:v>мар</c:v>
                </c:pt>
                <c:pt idx="1">
                  <c:v>апр</c:v>
                </c:pt>
                <c:pt idx="2">
                  <c:v>май</c:v>
                </c:pt>
                <c:pt idx="3">
                  <c:v>июн</c:v>
                </c:pt>
                <c:pt idx="4">
                  <c:v>июл</c:v>
                </c:pt>
                <c:pt idx="5">
                  <c:v>авг</c:v>
                </c:pt>
              </c:strCache>
            </c:strRef>
          </c:cat>
          <c:val>
            <c:numRef>
              <c:f>Визуализация!$Y$4:$Y$9</c:f>
              <c:numCache>
                <c:formatCode>General</c:formatCode>
                <c:ptCount val="6"/>
                <c:pt idx="0">
                  <c:v>164</c:v>
                </c:pt>
                <c:pt idx="1">
                  <c:v>4906</c:v>
                </c:pt>
                <c:pt idx="2">
                  <c:v>4322</c:v>
                </c:pt>
                <c:pt idx="3">
                  <c:v>3088</c:v>
                </c:pt>
                <c:pt idx="4">
                  <c:v>1756</c:v>
                </c:pt>
                <c:pt idx="5">
                  <c:v>246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BF-47DD-AE79-ABFA88FFAF97}"/>
            </c:ext>
          </c:extLst>
        </c:ser>
        <c:ser>
          <c:idx val="1"/>
          <c:order val="1"/>
          <c:tx>
            <c:strRef>
              <c:f>Визуализация!$Z$3</c:f>
              <c:strCache>
                <c:ptCount val="1"/>
                <c:pt idx="0">
                  <c:v>Уникальные просматривающие пользователи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Визуализация!$T$4:$T$9</c:f>
              <c:strCache>
                <c:ptCount val="6"/>
                <c:pt idx="0">
                  <c:v>мар</c:v>
                </c:pt>
                <c:pt idx="1">
                  <c:v>апр</c:v>
                </c:pt>
                <c:pt idx="2">
                  <c:v>май</c:v>
                </c:pt>
                <c:pt idx="3">
                  <c:v>июн</c:v>
                </c:pt>
                <c:pt idx="4">
                  <c:v>июл</c:v>
                </c:pt>
                <c:pt idx="5">
                  <c:v>авг</c:v>
                </c:pt>
              </c:strCache>
            </c:strRef>
          </c:cat>
          <c:val>
            <c:numRef>
              <c:f>Визуализация!$Z$4:$Z$9</c:f>
              <c:numCache>
                <c:formatCode>General</c:formatCode>
                <c:ptCount val="6"/>
                <c:pt idx="0">
                  <c:v>164</c:v>
                </c:pt>
                <c:pt idx="1">
                  <c:v>5066</c:v>
                </c:pt>
                <c:pt idx="2">
                  <c:v>8622</c:v>
                </c:pt>
                <c:pt idx="3">
                  <c:v>10018</c:v>
                </c:pt>
                <c:pt idx="4">
                  <c:v>9491</c:v>
                </c:pt>
                <c:pt idx="5">
                  <c:v>7480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DBF-47DD-AE79-ABFA88FFAF97}"/>
            </c:ext>
          </c:extLst>
        </c:ser>
        <c:ser>
          <c:idx val="2"/>
          <c:order val="2"/>
          <c:tx>
            <c:strRef>
              <c:f>Визуализация!$AA$3</c:f>
              <c:strCache>
                <c:ptCount val="1"/>
                <c:pt idx="0">
                  <c:v>Все просмотры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Визуализация!$T$4:$T$9</c:f>
              <c:strCache>
                <c:ptCount val="6"/>
                <c:pt idx="0">
                  <c:v>мар</c:v>
                </c:pt>
                <c:pt idx="1">
                  <c:v>апр</c:v>
                </c:pt>
                <c:pt idx="2">
                  <c:v>май</c:v>
                </c:pt>
                <c:pt idx="3">
                  <c:v>июн</c:v>
                </c:pt>
                <c:pt idx="4">
                  <c:v>июл</c:v>
                </c:pt>
                <c:pt idx="5">
                  <c:v>авг</c:v>
                </c:pt>
              </c:strCache>
            </c:strRef>
          </c:cat>
          <c:val>
            <c:numRef>
              <c:f>Визуализация!$AA$4:$AA$9</c:f>
              <c:numCache>
                <c:formatCode>General</c:formatCode>
                <c:ptCount val="6"/>
                <c:pt idx="0">
                  <c:v>165</c:v>
                </c:pt>
                <c:pt idx="1">
                  <c:v>11466</c:v>
                </c:pt>
                <c:pt idx="2">
                  <c:v>29990</c:v>
                </c:pt>
                <c:pt idx="3">
                  <c:v>34863</c:v>
                </c:pt>
                <c:pt idx="4">
                  <c:v>35348</c:v>
                </c:pt>
                <c:pt idx="5">
                  <c:v>28736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DBF-47DD-AE79-ABFA88FFAF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331016080"/>
        <c:axId val="1331006096"/>
      </c:barChart>
      <c:lineChart>
        <c:grouping val="standard"/>
        <c:varyColors val="0"/>
        <c:ser>
          <c:idx val="3"/>
          <c:order val="3"/>
          <c:tx>
            <c:strRef>
              <c:f>Визуализация!$AB$3</c:f>
              <c:strCache>
                <c:ptCount val="1"/>
                <c:pt idx="0">
                  <c:v>Среднее количество просмотров на пользователя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4.7353334423064199E-2"/>
                  <c:y val="-3.411770991989235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DBF-47DD-AE79-ABFA88FFAF97}"/>
                </c:ext>
              </c:extLst>
            </c:dLbl>
            <c:dLbl>
              <c:idx val="1"/>
              <c:layout>
                <c:manualLayout>
                  <c:x val="-5.106367811629068E-2"/>
                  <c:y val="-3.168550476587727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BF-47DD-AE79-ABFA88FFAF97}"/>
                </c:ext>
              </c:extLst>
            </c:dLbl>
            <c:dLbl>
              <c:idx val="2"/>
              <c:layout>
                <c:manualLayout>
                  <c:x val="-6.2194709195969984E-2"/>
                  <c:y val="-2.925329961186218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BF-47DD-AE79-ABFA88FFAF97}"/>
                </c:ext>
              </c:extLst>
            </c:dLbl>
            <c:dLbl>
              <c:idx val="3"/>
              <c:layout>
                <c:manualLayout>
                  <c:x val="-5.1063678116290777E-2"/>
                  <c:y val="-3.411770991989235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DBF-47DD-AE79-ABFA88FFAF97}"/>
                </c:ext>
              </c:extLst>
            </c:dLbl>
            <c:dLbl>
              <c:idx val="4"/>
              <c:layout>
                <c:manualLayout>
                  <c:x val="-4.735333442306433E-2"/>
                  <c:y val="-3.411770991989235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DBF-47DD-AE79-ABFA88FFAF9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Визуализация!$T$4:$T$9</c:f>
              <c:strCache>
                <c:ptCount val="6"/>
                <c:pt idx="0">
                  <c:v>мар</c:v>
                </c:pt>
                <c:pt idx="1">
                  <c:v>апр</c:v>
                </c:pt>
                <c:pt idx="2">
                  <c:v>май</c:v>
                </c:pt>
                <c:pt idx="3">
                  <c:v>июн</c:v>
                </c:pt>
                <c:pt idx="4">
                  <c:v>июл</c:v>
                </c:pt>
                <c:pt idx="5">
                  <c:v>авг</c:v>
                </c:pt>
              </c:strCache>
            </c:strRef>
          </c:cat>
          <c:val>
            <c:numRef>
              <c:f>Визуализация!$AB$4:$AB$9</c:f>
              <c:numCache>
                <c:formatCode>0.00</c:formatCode>
                <c:ptCount val="6"/>
                <c:pt idx="0">
                  <c:v>1.0060975609756098</c:v>
                </c:pt>
                <c:pt idx="1">
                  <c:v>2.2633241215949469</c:v>
                </c:pt>
                <c:pt idx="2">
                  <c:v>3.4783112966829042</c:v>
                </c:pt>
                <c:pt idx="3">
                  <c:v>3.4800359353164305</c:v>
                </c:pt>
                <c:pt idx="4">
                  <c:v>3.7243704562216835</c:v>
                </c:pt>
                <c:pt idx="5">
                  <c:v>3.8417112299465241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DBF-47DD-AE79-ABFA88FFAF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1021072"/>
        <c:axId val="1331016912"/>
      </c:lineChart>
      <c:catAx>
        <c:axId val="1331016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31006096"/>
        <c:crosses val="autoZero"/>
        <c:auto val="1"/>
        <c:lblAlgn val="ctr"/>
        <c:lblOffset val="100"/>
        <c:noMultiLvlLbl val="0"/>
      </c:catAx>
      <c:valAx>
        <c:axId val="1331006096"/>
        <c:scaling>
          <c:orientation val="minMax"/>
          <c:max val="4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31016080"/>
        <c:crosses val="autoZero"/>
        <c:crossBetween val="between"/>
      </c:valAx>
      <c:valAx>
        <c:axId val="1331016912"/>
        <c:scaling>
          <c:orientation val="minMax"/>
          <c:max val="4.5"/>
          <c:min val="0.5"/>
        </c:scaling>
        <c:delete val="0"/>
        <c:axPos val="r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31021072"/>
        <c:crosses val="max"/>
        <c:crossBetween val="between"/>
      </c:valAx>
      <c:catAx>
        <c:axId val="133102107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310169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8898211979531166E-2"/>
          <c:y val="0.84881987299292783"/>
          <c:w val="0.96591377365764097"/>
          <c:h val="0.136586896082981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Распределение просмотров по суточным часам</a:t>
            </a:r>
          </a:p>
        </c:rich>
      </c:tx>
      <c:layout>
        <c:manualLayout>
          <c:xMode val="edge"/>
          <c:yMode val="edge"/>
          <c:x val="4.6846099560117282E-4"/>
          <c:y val="1.507805565108508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'Просмотры по часам и дням'!$R$1</c:f>
              <c:strCache>
                <c:ptCount val="1"/>
                <c:pt idx="0">
                  <c:v>Среднее кол-во просмотров в будни</c:v>
                </c:pt>
              </c:strCache>
            </c:strRef>
          </c:tx>
          <c:spPr>
            <a:blipFill rotWithShape="1">
              <a:blip xmlns:r="http://schemas.openxmlformats.org/officeDocument/2006/relationships" r:embed="rId3">
                <a:duotone>
                  <a:schemeClr val="accent6">
                    <a:tint val="77000"/>
                    <a:tint val="70000"/>
                    <a:shade val="63000"/>
                  </a:schemeClr>
                  <a:schemeClr val="accent6">
                    <a:tint val="77000"/>
                    <a:tint val="10000"/>
                    <a:satMod val="150000"/>
                  </a:schemeClr>
                </a:duotone>
              </a:blip>
              <a:tile tx="0" ty="0" sx="60000" sy="59000" flip="none" algn="tl"/>
            </a:blipFill>
            <a:ln w="9525" cap="flat" cmpd="sng" algn="ctr">
              <a:solidFill>
                <a:schemeClr val="accent6">
                  <a:tint val="77000"/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'Просмотры по часам и дням'!$Q$3:$Q$26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  <c:extLst/>
            </c:strRef>
          </c:cat>
          <c:val>
            <c:numRef>
              <c:f>'Просмотры по часам и дням'!$R$3:$R$26</c:f>
              <c:numCache>
                <c:formatCode>0</c:formatCode>
                <c:ptCount val="24"/>
                <c:pt idx="0">
                  <c:v>441.8</c:v>
                </c:pt>
                <c:pt idx="1">
                  <c:v>299</c:v>
                </c:pt>
                <c:pt idx="2">
                  <c:v>216.8</c:v>
                </c:pt>
                <c:pt idx="3">
                  <c:v>175.8</c:v>
                </c:pt>
                <c:pt idx="4">
                  <c:v>172.2</c:v>
                </c:pt>
                <c:pt idx="5">
                  <c:v>161.6</c:v>
                </c:pt>
                <c:pt idx="6">
                  <c:v>158.19999999999999</c:v>
                </c:pt>
                <c:pt idx="7">
                  <c:v>188</c:v>
                </c:pt>
                <c:pt idx="8">
                  <c:v>206.8</c:v>
                </c:pt>
                <c:pt idx="9">
                  <c:v>269.8</c:v>
                </c:pt>
                <c:pt idx="10">
                  <c:v>365.8</c:v>
                </c:pt>
                <c:pt idx="11">
                  <c:v>503</c:v>
                </c:pt>
                <c:pt idx="12">
                  <c:v>723.6</c:v>
                </c:pt>
                <c:pt idx="13">
                  <c:v>946.2</c:v>
                </c:pt>
                <c:pt idx="14">
                  <c:v>1185.2</c:v>
                </c:pt>
                <c:pt idx="15">
                  <c:v>1410.6</c:v>
                </c:pt>
                <c:pt idx="16">
                  <c:v>1538.6</c:v>
                </c:pt>
                <c:pt idx="17">
                  <c:v>1628</c:v>
                </c:pt>
                <c:pt idx="18">
                  <c:v>1562.6</c:v>
                </c:pt>
                <c:pt idx="19">
                  <c:v>1488</c:v>
                </c:pt>
                <c:pt idx="20">
                  <c:v>1348.8</c:v>
                </c:pt>
                <c:pt idx="21">
                  <c:v>1118.2</c:v>
                </c:pt>
                <c:pt idx="22">
                  <c:v>913.4</c:v>
                </c:pt>
                <c:pt idx="23">
                  <c:v>695.6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CB26-4FA4-B3F1-5BD15EBDC1EE}"/>
            </c:ext>
          </c:extLst>
        </c:ser>
        <c:ser>
          <c:idx val="1"/>
          <c:order val="1"/>
          <c:tx>
            <c:strRef>
              <c:f>'Просмотры по часам и дням'!$S$1</c:f>
              <c:strCache>
                <c:ptCount val="1"/>
                <c:pt idx="0">
                  <c:v>Среднее кол-во просмотров в выходные</c:v>
                </c:pt>
              </c:strCache>
            </c:strRef>
          </c:tx>
          <c:spPr>
            <a:blipFill rotWithShape="1">
              <a:blip xmlns:r="http://schemas.openxmlformats.org/officeDocument/2006/relationships" r:embed="rId3">
                <a:duotone>
                  <a:schemeClr val="accent6">
                    <a:shade val="76000"/>
                    <a:tint val="70000"/>
                    <a:shade val="63000"/>
                  </a:schemeClr>
                  <a:schemeClr val="accent6">
                    <a:shade val="76000"/>
                    <a:tint val="10000"/>
                    <a:satMod val="150000"/>
                  </a:schemeClr>
                </a:duotone>
              </a:blip>
              <a:tile tx="0" ty="0" sx="60000" sy="59000" flip="none" algn="tl"/>
            </a:blipFill>
            <a:ln w="9525" cap="flat" cmpd="sng" algn="ctr">
              <a:solidFill>
                <a:schemeClr val="accent6">
                  <a:shade val="76000"/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accent6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'Просмотры по часам и дням'!$Q$3:$Q$26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  <c:extLst/>
            </c:strRef>
          </c:cat>
          <c:val>
            <c:numRef>
              <c:f>'Просмотры по часам и дням'!$S$3:$S$26</c:f>
              <c:numCache>
                <c:formatCode>0</c:formatCode>
                <c:ptCount val="24"/>
                <c:pt idx="0">
                  <c:v>771.5</c:v>
                </c:pt>
                <c:pt idx="1">
                  <c:v>698.5</c:v>
                </c:pt>
                <c:pt idx="2">
                  <c:v>648</c:v>
                </c:pt>
                <c:pt idx="3">
                  <c:v>566</c:v>
                </c:pt>
                <c:pt idx="4">
                  <c:v>550</c:v>
                </c:pt>
                <c:pt idx="5">
                  <c:v>586.5</c:v>
                </c:pt>
                <c:pt idx="6">
                  <c:v>558.5</c:v>
                </c:pt>
                <c:pt idx="7">
                  <c:v>604.5</c:v>
                </c:pt>
                <c:pt idx="8">
                  <c:v>660</c:v>
                </c:pt>
                <c:pt idx="9">
                  <c:v>708.5</c:v>
                </c:pt>
                <c:pt idx="10">
                  <c:v>767.5</c:v>
                </c:pt>
                <c:pt idx="11">
                  <c:v>931</c:v>
                </c:pt>
                <c:pt idx="12">
                  <c:v>1042.5</c:v>
                </c:pt>
                <c:pt idx="13">
                  <c:v>1283.5</c:v>
                </c:pt>
                <c:pt idx="14">
                  <c:v>1499.5</c:v>
                </c:pt>
                <c:pt idx="15">
                  <c:v>1723</c:v>
                </c:pt>
                <c:pt idx="16">
                  <c:v>1817.5</c:v>
                </c:pt>
                <c:pt idx="17">
                  <c:v>1930.5</c:v>
                </c:pt>
                <c:pt idx="18">
                  <c:v>1921.5</c:v>
                </c:pt>
                <c:pt idx="19">
                  <c:v>1736</c:v>
                </c:pt>
                <c:pt idx="20">
                  <c:v>1560</c:v>
                </c:pt>
                <c:pt idx="21">
                  <c:v>1395.5</c:v>
                </c:pt>
                <c:pt idx="22">
                  <c:v>1124.5</c:v>
                </c:pt>
                <c:pt idx="23">
                  <c:v>905.5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CB26-4FA4-B3F1-5BD15EBDC1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290694559"/>
        <c:axId val="1290699135"/>
      </c:barChart>
      <c:catAx>
        <c:axId val="1290694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90699135"/>
        <c:crosses val="autoZero"/>
        <c:auto val="1"/>
        <c:lblAlgn val="ctr"/>
        <c:lblOffset val="100"/>
        <c:noMultiLvlLbl val="0"/>
      </c:catAx>
      <c:valAx>
        <c:axId val="1290699135"/>
        <c:scaling>
          <c:orientation val="minMax"/>
          <c:max val="2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90694559"/>
        <c:crosses val="autoZero"/>
        <c:crossBetween val="between"/>
        <c:minorUnit val="1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Распределение уникальных пользователей по суточным часам</a:t>
            </a:r>
          </a:p>
        </c:rich>
      </c:tx>
      <c:layout>
        <c:manualLayout>
          <c:xMode val="edge"/>
          <c:yMode val="edge"/>
          <c:x val="8.4678529092052472E-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'Просмотры по часам и дням'!$R$30</c:f>
              <c:strCache>
                <c:ptCount val="1"/>
                <c:pt idx="0">
                  <c:v>Среднее кол-во уник. пользователей в будни</c:v>
                </c:pt>
              </c:strCache>
            </c:strRef>
          </c:tx>
          <c:spPr>
            <a:blipFill rotWithShape="1">
              <a:blip xmlns:r="http://schemas.openxmlformats.org/officeDocument/2006/relationships" r:embed="rId3">
                <a:duotone>
                  <a:schemeClr val="accent6">
                    <a:tint val="77000"/>
                    <a:tint val="70000"/>
                    <a:shade val="63000"/>
                  </a:schemeClr>
                  <a:schemeClr val="accent6">
                    <a:tint val="77000"/>
                    <a:tint val="10000"/>
                    <a:satMod val="150000"/>
                  </a:schemeClr>
                </a:duotone>
              </a:blip>
              <a:tile tx="0" ty="0" sx="60000" sy="59000" flip="none" algn="tl"/>
            </a:blipFill>
            <a:ln w="9525" cap="flat" cmpd="sng" algn="ctr">
              <a:solidFill>
                <a:schemeClr val="accent6">
                  <a:tint val="77000"/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'Просмотры по часам и дням'!$Q$32:$Q$55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  <c:extLst/>
            </c:strRef>
          </c:cat>
          <c:val>
            <c:numRef>
              <c:f>'Просмотры по часам и дням'!$R$32:$R$55</c:f>
              <c:numCache>
                <c:formatCode>0</c:formatCode>
                <c:ptCount val="24"/>
                <c:pt idx="0">
                  <c:v>428.2</c:v>
                </c:pt>
                <c:pt idx="1">
                  <c:v>290.60000000000002</c:v>
                </c:pt>
                <c:pt idx="2">
                  <c:v>209.6</c:v>
                </c:pt>
                <c:pt idx="3">
                  <c:v>171</c:v>
                </c:pt>
                <c:pt idx="4">
                  <c:v>167</c:v>
                </c:pt>
                <c:pt idx="5">
                  <c:v>157.80000000000001</c:v>
                </c:pt>
                <c:pt idx="6">
                  <c:v>155.19999999999999</c:v>
                </c:pt>
                <c:pt idx="7">
                  <c:v>183.8</c:v>
                </c:pt>
                <c:pt idx="8">
                  <c:v>201</c:v>
                </c:pt>
                <c:pt idx="9">
                  <c:v>261.60000000000002</c:v>
                </c:pt>
                <c:pt idx="10">
                  <c:v>355.4</c:v>
                </c:pt>
                <c:pt idx="11">
                  <c:v>485.6</c:v>
                </c:pt>
                <c:pt idx="12">
                  <c:v>697.4</c:v>
                </c:pt>
                <c:pt idx="13">
                  <c:v>899</c:v>
                </c:pt>
                <c:pt idx="14">
                  <c:v>1123.5999999999999</c:v>
                </c:pt>
                <c:pt idx="15">
                  <c:v>1326.6</c:v>
                </c:pt>
                <c:pt idx="16">
                  <c:v>1439.8</c:v>
                </c:pt>
                <c:pt idx="17">
                  <c:v>1525.6</c:v>
                </c:pt>
                <c:pt idx="18">
                  <c:v>1464</c:v>
                </c:pt>
                <c:pt idx="19">
                  <c:v>1394</c:v>
                </c:pt>
                <c:pt idx="20">
                  <c:v>1269.4000000000001</c:v>
                </c:pt>
                <c:pt idx="21">
                  <c:v>1066.2</c:v>
                </c:pt>
                <c:pt idx="22">
                  <c:v>873.6</c:v>
                </c:pt>
                <c:pt idx="23">
                  <c:v>670.6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B2CD-48AB-BDDA-0CDEA911206C}"/>
            </c:ext>
          </c:extLst>
        </c:ser>
        <c:ser>
          <c:idx val="1"/>
          <c:order val="1"/>
          <c:tx>
            <c:strRef>
              <c:f>'Просмотры по часам и дням'!$S$30</c:f>
              <c:strCache>
                <c:ptCount val="1"/>
                <c:pt idx="0">
                  <c:v>Среднее кол-во уник. пользователей в выходные</c:v>
                </c:pt>
              </c:strCache>
            </c:strRef>
          </c:tx>
          <c:spPr>
            <a:blipFill rotWithShape="1">
              <a:blip xmlns:r="http://schemas.openxmlformats.org/officeDocument/2006/relationships" r:embed="rId3">
                <a:duotone>
                  <a:schemeClr val="accent6">
                    <a:shade val="76000"/>
                    <a:tint val="70000"/>
                    <a:shade val="63000"/>
                  </a:schemeClr>
                  <a:schemeClr val="accent6">
                    <a:shade val="76000"/>
                    <a:tint val="10000"/>
                    <a:satMod val="150000"/>
                  </a:schemeClr>
                </a:duotone>
              </a:blip>
              <a:tile tx="0" ty="0" sx="60000" sy="59000" flip="none" algn="tl"/>
            </a:blipFill>
            <a:ln w="9525" cap="flat" cmpd="sng" algn="ctr">
              <a:solidFill>
                <a:schemeClr val="accent6">
                  <a:shade val="76000"/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'Просмотры по часам и дням'!$Q$32:$Q$55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  <c:extLst/>
            </c:strRef>
          </c:cat>
          <c:val>
            <c:numRef>
              <c:f>'Просмотры по часам и дням'!$S$32:$S$55</c:f>
              <c:numCache>
                <c:formatCode>0</c:formatCode>
                <c:ptCount val="24"/>
                <c:pt idx="0">
                  <c:v>747.5</c:v>
                </c:pt>
                <c:pt idx="1">
                  <c:v>678.5</c:v>
                </c:pt>
                <c:pt idx="2">
                  <c:v>626</c:v>
                </c:pt>
                <c:pt idx="3">
                  <c:v>546</c:v>
                </c:pt>
                <c:pt idx="4">
                  <c:v>534.5</c:v>
                </c:pt>
                <c:pt idx="5">
                  <c:v>574.5</c:v>
                </c:pt>
                <c:pt idx="6">
                  <c:v>545</c:v>
                </c:pt>
                <c:pt idx="7">
                  <c:v>591.5</c:v>
                </c:pt>
                <c:pt idx="8">
                  <c:v>634.5</c:v>
                </c:pt>
                <c:pt idx="9">
                  <c:v>688.5</c:v>
                </c:pt>
                <c:pt idx="10">
                  <c:v>738</c:v>
                </c:pt>
                <c:pt idx="11">
                  <c:v>890.5</c:v>
                </c:pt>
                <c:pt idx="12">
                  <c:v>995</c:v>
                </c:pt>
                <c:pt idx="13">
                  <c:v>1211.5</c:v>
                </c:pt>
                <c:pt idx="14">
                  <c:v>1410.5</c:v>
                </c:pt>
                <c:pt idx="15">
                  <c:v>1598.5</c:v>
                </c:pt>
                <c:pt idx="16">
                  <c:v>1696</c:v>
                </c:pt>
                <c:pt idx="17">
                  <c:v>1788</c:v>
                </c:pt>
                <c:pt idx="18">
                  <c:v>1775.5</c:v>
                </c:pt>
                <c:pt idx="19">
                  <c:v>1614</c:v>
                </c:pt>
                <c:pt idx="20">
                  <c:v>1463.5</c:v>
                </c:pt>
                <c:pt idx="21">
                  <c:v>1308</c:v>
                </c:pt>
                <c:pt idx="22">
                  <c:v>1072</c:v>
                </c:pt>
                <c:pt idx="23">
                  <c:v>873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B2CD-48AB-BDDA-0CDEA91120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290694559"/>
        <c:axId val="1290699135"/>
      </c:barChart>
      <c:catAx>
        <c:axId val="1290694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90699135"/>
        <c:crosses val="autoZero"/>
        <c:auto val="1"/>
        <c:lblAlgn val="ctr"/>
        <c:lblOffset val="100"/>
        <c:noMultiLvlLbl val="0"/>
      </c:catAx>
      <c:valAx>
        <c:axId val="1290699135"/>
        <c:scaling>
          <c:orientation val="minMax"/>
          <c:max val="2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90694559"/>
        <c:crosses val="autoZero"/>
        <c:crossBetween val="between"/>
        <c:minorUnit val="1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[Курсовая Юнит-экономика - Лыков Г.А.xlsx]Топ-20 фильмов!Сводная таблица1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Топ-20 просматриваемых фильмов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 w="9525" cap="flat" cmpd="sng" algn="ctr">
            <a:noFill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rgbClr val="FFC000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 w="9525" cap="flat" cmpd="sng" algn="ctr">
            <a:noFill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 w="9525" cap="flat" cmpd="sng" algn="ctr">
            <a:noFill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rgbClr val="FFC000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 w="9525" cap="flat" cmpd="sng" algn="ctr">
            <a:noFill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 w="9525" cap="flat" cmpd="sng" algn="ctr">
            <a:noFill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rgbClr val="FFC000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 w="9525" cap="flat" cmpd="sng" algn="ctr">
            <a:noFill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'Топ-20 фильмов'!$B$1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6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'Топ-20 фильмов'!$A$2:$A$22</c:f>
              <c:strCache>
                <c:ptCount val="20"/>
                <c:pt idx="0">
                  <c:v>411922</c:v>
                </c:pt>
                <c:pt idx="1">
                  <c:v>250679</c:v>
                </c:pt>
                <c:pt idx="2">
                  <c:v>158978</c:v>
                </c:pt>
                <c:pt idx="3">
                  <c:v>230507</c:v>
                </c:pt>
                <c:pt idx="4">
                  <c:v>351192</c:v>
                </c:pt>
                <c:pt idx="5">
                  <c:v>347008</c:v>
                </c:pt>
                <c:pt idx="6">
                  <c:v>118549</c:v>
                </c:pt>
                <c:pt idx="7">
                  <c:v>347393</c:v>
                </c:pt>
                <c:pt idx="8">
                  <c:v>470762</c:v>
                </c:pt>
                <c:pt idx="9">
                  <c:v>21760</c:v>
                </c:pt>
                <c:pt idx="10">
                  <c:v>182191</c:v>
                </c:pt>
                <c:pt idx="11">
                  <c:v>154256</c:v>
                </c:pt>
                <c:pt idx="12">
                  <c:v>153893</c:v>
                </c:pt>
                <c:pt idx="13">
                  <c:v>439981</c:v>
                </c:pt>
                <c:pt idx="14">
                  <c:v>227775</c:v>
                </c:pt>
                <c:pt idx="15">
                  <c:v>88863</c:v>
                </c:pt>
                <c:pt idx="16">
                  <c:v>258219</c:v>
                </c:pt>
                <c:pt idx="17">
                  <c:v>242428</c:v>
                </c:pt>
                <c:pt idx="18">
                  <c:v>472712</c:v>
                </c:pt>
                <c:pt idx="19">
                  <c:v>5151</c:v>
                </c:pt>
              </c:strCache>
            </c:strRef>
          </c:cat>
          <c:val>
            <c:numRef>
              <c:f>'Топ-20 фильмов'!$B$2:$B$22</c:f>
              <c:numCache>
                <c:formatCode>General</c:formatCode>
                <c:ptCount val="20"/>
                <c:pt idx="0">
                  <c:v>8071</c:v>
                </c:pt>
                <c:pt idx="1">
                  <c:v>5079</c:v>
                </c:pt>
                <c:pt idx="2">
                  <c:v>4240</c:v>
                </c:pt>
                <c:pt idx="3">
                  <c:v>3824</c:v>
                </c:pt>
                <c:pt idx="4">
                  <c:v>3501</c:v>
                </c:pt>
                <c:pt idx="5">
                  <c:v>2508</c:v>
                </c:pt>
                <c:pt idx="6">
                  <c:v>2288</c:v>
                </c:pt>
                <c:pt idx="7">
                  <c:v>2092</c:v>
                </c:pt>
                <c:pt idx="8">
                  <c:v>1776</c:v>
                </c:pt>
                <c:pt idx="9">
                  <c:v>1592</c:v>
                </c:pt>
                <c:pt idx="10">
                  <c:v>1541</c:v>
                </c:pt>
                <c:pt idx="11">
                  <c:v>1394</c:v>
                </c:pt>
                <c:pt idx="12">
                  <c:v>1381</c:v>
                </c:pt>
                <c:pt idx="13">
                  <c:v>1320</c:v>
                </c:pt>
                <c:pt idx="14">
                  <c:v>1266</c:v>
                </c:pt>
                <c:pt idx="15">
                  <c:v>1079</c:v>
                </c:pt>
                <c:pt idx="16">
                  <c:v>1036</c:v>
                </c:pt>
                <c:pt idx="17">
                  <c:v>938</c:v>
                </c:pt>
                <c:pt idx="18">
                  <c:v>936</c:v>
                </c:pt>
                <c:pt idx="19">
                  <c:v>857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35-4ACF-9F4A-AB05A12647A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915367263"/>
        <c:axId val="1915367679"/>
      </c:barChart>
      <c:catAx>
        <c:axId val="191536726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15367679"/>
        <c:crosses val="autoZero"/>
        <c:auto val="1"/>
        <c:lblAlgn val="ctr"/>
        <c:lblOffset val="100"/>
        <c:noMultiLvlLbl val="0"/>
      </c:catAx>
      <c:valAx>
        <c:axId val="1915367679"/>
        <c:scaling>
          <c:orientation val="minMax"/>
          <c:max val="8500"/>
          <c:min val="0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153672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ru-RU"/>
              <a:t>Состояние экономики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'Юнит-экономика'!$K$1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'Юнит-экономика'!$A$2:$A$7</c:f>
              <c:strCache>
                <c:ptCount val="6"/>
                <c:pt idx="0">
                  <c:v>мар</c:v>
                </c:pt>
                <c:pt idx="1">
                  <c:v>апр</c:v>
                </c:pt>
                <c:pt idx="2">
                  <c:v>май</c:v>
                </c:pt>
                <c:pt idx="3">
                  <c:v>июн</c:v>
                </c:pt>
                <c:pt idx="4">
                  <c:v>июл</c:v>
                </c:pt>
                <c:pt idx="5">
                  <c:v>авг</c:v>
                </c:pt>
              </c:strCache>
            </c:strRef>
          </c:cat>
          <c:val>
            <c:numRef>
              <c:f>'Юнит-экономика'!$K$2:$K$7</c:f>
              <c:numCache>
                <c:formatCode>#\ ##0.00\ "₽"</c:formatCode>
                <c:ptCount val="6"/>
                <c:pt idx="0">
                  <c:v>58946.264999999999</c:v>
                </c:pt>
                <c:pt idx="1">
                  <c:v>1608279.12</c:v>
                </c:pt>
                <c:pt idx="2">
                  <c:v>2861480.9511875985</c:v>
                </c:pt>
                <c:pt idx="3">
                  <c:v>3291759.765476191</c:v>
                </c:pt>
                <c:pt idx="4">
                  <c:v>3205517.1930161933</c:v>
                </c:pt>
                <c:pt idx="5">
                  <c:v>2567531.4873516602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FA-4323-8ED3-BC8F453F7C4D}"/>
            </c:ext>
          </c:extLst>
        </c:ser>
        <c:ser>
          <c:idx val="1"/>
          <c:order val="1"/>
          <c:tx>
            <c:strRef>
              <c:f>'Юнит-экономика'!$L$1</c:f>
              <c:strCache>
                <c:ptCount val="1"/>
                <c:pt idx="0">
                  <c:v>Затраты на маркетинг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'Юнит-экономика'!$A$2:$A$7</c:f>
              <c:strCache>
                <c:ptCount val="6"/>
                <c:pt idx="0">
                  <c:v>мар</c:v>
                </c:pt>
                <c:pt idx="1">
                  <c:v>апр</c:v>
                </c:pt>
                <c:pt idx="2">
                  <c:v>май</c:v>
                </c:pt>
                <c:pt idx="3">
                  <c:v>июн</c:v>
                </c:pt>
                <c:pt idx="4">
                  <c:v>июл</c:v>
                </c:pt>
                <c:pt idx="5">
                  <c:v>авг</c:v>
                </c:pt>
              </c:strCache>
            </c:strRef>
          </c:cat>
          <c:val>
            <c:numRef>
              <c:f>'Юнит-экономика'!$L$2:$L$7</c:f>
              <c:numCache>
                <c:formatCode>#\ ##0.00\ "₽"</c:formatCode>
                <c:ptCount val="6"/>
                <c:pt idx="0">
                  <c:v>205731</c:v>
                </c:pt>
                <c:pt idx="1">
                  <c:v>10219571.900826447</c:v>
                </c:pt>
                <c:pt idx="2">
                  <c:v>8554785.1239669416</c:v>
                </c:pt>
                <c:pt idx="3">
                  <c:v>8365576.8595041325</c:v>
                </c:pt>
                <c:pt idx="4">
                  <c:v>5982209.9173553716</c:v>
                </c:pt>
                <c:pt idx="5">
                  <c:v>1094171.9008264462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FA-4323-8ED3-BC8F453F7C4D}"/>
            </c:ext>
          </c:extLst>
        </c:ser>
        <c:ser>
          <c:idx val="2"/>
          <c:order val="2"/>
          <c:tx>
            <c:strRef>
              <c:f>'Юнит-экономика'!$M$1</c:f>
              <c:strCache>
                <c:ptCount val="1"/>
                <c:pt idx="0">
                  <c:v>Постоянные
расходы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'Юнит-экономика'!$A$2:$A$7</c:f>
              <c:strCache>
                <c:ptCount val="6"/>
                <c:pt idx="0">
                  <c:v>мар</c:v>
                </c:pt>
                <c:pt idx="1">
                  <c:v>апр</c:v>
                </c:pt>
                <c:pt idx="2">
                  <c:v>май</c:v>
                </c:pt>
                <c:pt idx="3">
                  <c:v>июн</c:v>
                </c:pt>
                <c:pt idx="4">
                  <c:v>июл</c:v>
                </c:pt>
                <c:pt idx="5">
                  <c:v>авг</c:v>
                </c:pt>
              </c:strCache>
            </c:strRef>
          </c:cat>
          <c:val>
            <c:numRef>
              <c:f>'Юнит-экономика'!$M$2:$M$7</c:f>
              <c:numCache>
                <c:formatCode>#\ ##0.00\ "₽"</c:formatCode>
                <c:ptCount val="6"/>
                <c:pt idx="0">
                  <c:v>1200000</c:v>
                </c:pt>
                <c:pt idx="1">
                  <c:v>1200000</c:v>
                </c:pt>
                <c:pt idx="2">
                  <c:v>1300000</c:v>
                </c:pt>
                <c:pt idx="3">
                  <c:v>1300000</c:v>
                </c:pt>
                <c:pt idx="4">
                  <c:v>1300000</c:v>
                </c:pt>
                <c:pt idx="5">
                  <c:v>1300000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2FA-4323-8ED3-BC8F453F7C4D}"/>
            </c:ext>
          </c:extLst>
        </c:ser>
        <c:ser>
          <c:idx val="3"/>
          <c:order val="3"/>
          <c:tx>
            <c:strRef>
              <c:f>'Юнит-экономика'!$N$1</c:f>
              <c:strCache>
                <c:ptCount val="1"/>
                <c:pt idx="0">
                  <c:v>Убыток/прибыль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'Юнит-экономика'!$A$2:$A$7</c:f>
              <c:strCache>
                <c:ptCount val="6"/>
                <c:pt idx="0">
                  <c:v>мар</c:v>
                </c:pt>
                <c:pt idx="1">
                  <c:v>апр</c:v>
                </c:pt>
                <c:pt idx="2">
                  <c:v>май</c:v>
                </c:pt>
                <c:pt idx="3">
                  <c:v>июн</c:v>
                </c:pt>
                <c:pt idx="4">
                  <c:v>июл</c:v>
                </c:pt>
                <c:pt idx="5">
                  <c:v>авг</c:v>
                </c:pt>
              </c:strCache>
            </c:strRef>
          </c:cat>
          <c:val>
            <c:numRef>
              <c:f>'Юнит-экономика'!$N$2:$N$7</c:f>
              <c:numCache>
                <c:formatCode>#\ ##0.00\ "₽"</c:formatCode>
                <c:ptCount val="6"/>
                <c:pt idx="0">
                  <c:v>-1346784.7349999999</c:v>
                </c:pt>
                <c:pt idx="1">
                  <c:v>-9811292.7808264457</c:v>
                </c:pt>
                <c:pt idx="2">
                  <c:v>-6993304.1727793431</c:v>
                </c:pt>
                <c:pt idx="3">
                  <c:v>-6373817.094027942</c:v>
                </c:pt>
                <c:pt idx="4">
                  <c:v>-4076692.7243391783</c:v>
                </c:pt>
                <c:pt idx="5">
                  <c:v>173359.5865252139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2FA-4323-8ED3-BC8F453F7C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7"/>
        <c:axId val="801394095"/>
        <c:axId val="801403247"/>
      </c:barChart>
      <c:lineChart>
        <c:grouping val="standard"/>
        <c:varyColors val="0"/>
        <c:ser>
          <c:idx val="4"/>
          <c:order val="4"/>
          <c:tx>
            <c:strRef>
              <c:f>'Юнит-экономика'!$J$1</c:f>
              <c:strCache>
                <c:ptCount val="1"/>
                <c:pt idx="0">
                  <c:v>Объём скидок</c:v>
                </c:pt>
              </c:strCache>
            </c:strRef>
          </c:tx>
          <c:spPr>
            <a:ln w="2222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'Юнит-экономика'!$J$2:$J$7</c:f>
              <c:numCache>
                <c:formatCode>0.00%</c:formatCode>
                <c:ptCount val="6"/>
                <c:pt idx="0">
                  <c:v>0.16209999999999999</c:v>
                </c:pt>
                <c:pt idx="1">
                  <c:v>0.13120000000000001</c:v>
                </c:pt>
                <c:pt idx="2">
                  <c:v>9.06E-2</c:v>
                </c:pt>
                <c:pt idx="3">
                  <c:v>8.8900000000000007E-2</c:v>
                </c:pt>
                <c:pt idx="4">
                  <c:v>8.4000000000000005E-2</c:v>
                </c:pt>
                <c:pt idx="5">
                  <c:v>8.6699999999999999E-2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2FA-4323-8ED3-BC8F453F7C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4277008"/>
        <c:axId val="1114295312"/>
      </c:lineChart>
      <c:catAx>
        <c:axId val="80139409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01403247"/>
        <c:crosses val="autoZero"/>
        <c:auto val="1"/>
        <c:lblAlgn val="ctr"/>
        <c:lblOffset val="100"/>
        <c:noMultiLvlLbl val="0"/>
      </c:catAx>
      <c:valAx>
        <c:axId val="801403247"/>
        <c:scaling>
          <c:orientation val="minMax"/>
          <c:max val="11000000"/>
          <c:min val="-11000000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₽&quot;* #,##0_);_(&quot;₽&quot;* \(#,##0\);_(&quot;₽&quot;* &quot;-&quot;_);_(@_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01394095"/>
        <c:crosses val="autoZero"/>
        <c:crossBetween val="between"/>
        <c:majorUnit val="2000000"/>
      </c:valAx>
      <c:valAx>
        <c:axId val="1114295312"/>
        <c:scaling>
          <c:orientation val="minMax"/>
          <c:max val="0.22000000000000003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4277008"/>
        <c:crosses val="max"/>
        <c:crossBetween val="between"/>
        <c:majorUnit val="2.0000000000000004E-2"/>
      </c:valAx>
      <c:catAx>
        <c:axId val="1114277008"/>
        <c:scaling>
          <c:orientation val="minMax"/>
        </c:scaling>
        <c:delete val="1"/>
        <c:axPos val="b"/>
        <c:majorTickMark val="out"/>
        <c:minorTickMark val="none"/>
        <c:tickLblPos val="nextTo"/>
        <c:crossAx val="1114295312"/>
        <c:crosses val="autoZero"/>
        <c:auto val="1"/>
        <c:lblAlgn val="ctr"/>
        <c:lblOffset val="100"/>
        <c:noMultiLvlLbl val="0"/>
      </c:cat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5357245315830768E-2"/>
          <c:y val="0.83864367479056601"/>
          <c:w val="0.9656546430162678"/>
          <c:h val="0.161356325209433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AS-IS</a:t>
            </a:r>
            <a:endParaRPr lang="ru-RU"/>
          </a:p>
        </c:rich>
      </c:tx>
      <c:layout>
        <c:manualLayout>
          <c:xMode val="edge"/>
          <c:yMode val="edge"/>
          <c:x val="0.7959602497080803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7852272995208091"/>
          <c:y val="0.13307863482621859"/>
          <c:w val="0.77894278109688775"/>
          <c:h val="0.72176800822839138"/>
        </c:manualLayout>
      </c:layout>
      <c:barChart>
        <c:barDir val="col"/>
        <c:grouping val="clustered"/>
        <c:varyColors val="0"/>
        <c:ser>
          <c:idx val="0"/>
          <c:order val="0"/>
          <c:spPr>
            <a:blipFill rotWithShape="1">
              <a:blip xmlns:r="http://schemas.openxmlformats.org/officeDocument/2006/relationships" r:embed="rId3">
                <a:duotone>
                  <a:schemeClr val="accent1">
                    <a:shade val="36000"/>
                    <a:satMod val="120000"/>
                  </a:schemeClr>
                  <a:schemeClr val="accent1">
                    <a:tint val="40000"/>
                  </a:schemeClr>
                </a:duotone>
              </a:blip>
              <a:tile tx="0" ty="0" sx="60000" sy="59000" flip="none" algn="tl"/>
            </a:blipFill>
            <a:ln>
              <a:noFill/>
            </a:ln>
            <a:effectLst>
              <a:outerShdw blurRad="50800" dist="19050" dir="5400000" algn="tl" rotWithShape="0">
                <a:srgbClr val="000000">
                  <a:alpha val="60000"/>
                </a:srgbClr>
              </a:outerShdw>
              <a:softEdge rad="12700"/>
            </a:effectLst>
          </c:spPr>
          <c:invertIfNegative val="0"/>
          <c:dPt>
            <c:idx val="0"/>
            <c:invertIfNegative val="0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1">
                      <a:shade val="36000"/>
                      <a:satMod val="120000"/>
                    </a:schemeClr>
                    <a:schemeClr val="accent1">
                      <a:tint val="40000"/>
                    </a:schemeClr>
                  </a:duotone>
                </a:blip>
                <a:tile tx="0" ty="0" sx="60000" sy="59000" flip="none" algn="tl"/>
              </a:blipFill>
              <a:ln>
                <a:noFill/>
              </a:ln>
              <a:effectLst>
                <a:outerShdw blurRad="50800" dist="19050" dir="5400000" algn="tl" rotWithShape="0">
                  <a:srgbClr val="000000">
                    <a:alpha val="60000"/>
                  </a:srgbClr>
                </a:outerShdw>
                <a:softEdge rad="12700"/>
              </a:effectLst>
            </c:spPr>
            <c:extLst>
              <c:ext xmlns:c16="http://schemas.microsoft.com/office/drawing/2014/chart" uri="{C3380CC4-5D6E-409C-BE32-E72D297353CC}">
                <c16:uniqueId val="{00000001-4A8B-420D-B1D5-1C6B0765259D}"/>
              </c:ext>
            </c:extLst>
          </c:dPt>
          <c:dPt>
            <c:idx val="1"/>
            <c:invertIfNegative val="0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1">
                      <a:shade val="36000"/>
                      <a:satMod val="120000"/>
                    </a:schemeClr>
                    <a:schemeClr val="accent1">
                      <a:tint val="40000"/>
                    </a:schemeClr>
                  </a:duotone>
                </a:blip>
                <a:tile tx="0" ty="0" sx="60000" sy="59000" flip="none" algn="tl"/>
              </a:blipFill>
              <a:ln>
                <a:noFill/>
              </a:ln>
              <a:effectLst>
                <a:outerShdw blurRad="50800" dist="19050" dir="5400000" algn="tl" rotWithShape="0">
                  <a:srgbClr val="000000">
                    <a:alpha val="60000"/>
                  </a:srgbClr>
                </a:outerShdw>
                <a:softEdge rad="12700"/>
              </a:effectLst>
            </c:spPr>
            <c:extLst>
              <c:ext xmlns:c16="http://schemas.microsoft.com/office/drawing/2014/chart" uri="{C3380CC4-5D6E-409C-BE32-E72D297353CC}">
                <c16:uniqueId val="{00000003-4A8B-420D-B1D5-1C6B0765259D}"/>
              </c:ext>
            </c:extLst>
          </c:dPt>
          <c:dPt>
            <c:idx val="2"/>
            <c:invertIfNegative val="0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1">
                      <a:shade val="36000"/>
                      <a:satMod val="120000"/>
                    </a:schemeClr>
                    <a:schemeClr val="accent1">
                      <a:tint val="40000"/>
                    </a:schemeClr>
                  </a:duotone>
                </a:blip>
                <a:tile tx="0" ty="0" sx="60000" sy="59000" flip="none" algn="tl"/>
              </a:blipFill>
              <a:ln>
                <a:noFill/>
              </a:ln>
              <a:effectLst>
                <a:outerShdw blurRad="50800" dist="19050" dir="5400000" algn="tl" rotWithShape="0">
                  <a:srgbClr val="000000">
                    <a:alpha val="60000"/>
                  </a:srgbClr>
                </a:outerShdw>
                <a:softEdge rad="12700"/>
              </a:effectLst>
            </c:spPr>
            <c:extLst>
              <c:ext xmlns:c16="http://schemas.microsoft.com/office/drawing/2014/chart" uri="{C3380CC4-5D6E-409C-BE32-E72D297353CC}">
                <c16:uniqueId val="{00000005-4A8B-420D-B1D5-1C6B0765259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('Юнит-экономика'!$B$41:$B$42,'Юнит-экономика'!$B$44)</c:f>
              <c:strCache>
                <c:ptCount val="3"/>
                <c:pt idx="0">
                  <c:v>CAC %</c:v>
                </c:pt>
                <c:pt idx="1">
                  <c:v>Fixed Costs %</c:v>
                </c:pt>
                <c:pt idx="2">
                  <c:v>Маржинальность</c:v>
                </c:pt>
              </c:strCache>
              <c:extLst/>
            </c:strRef>
          </c:cat>
          <c:val>
            <c:numRef>
              <c:f>('Юнит-экономика'!$C$41:$C$42,'Юнит-экономика'!$C$44)</c:f>
              <c:numCache>
                <c:formatCode>0.00%</c:formatCode>
                <c:ptCount val="3"/>
                <c:pt idx="0">
                  <c:v>1.3784363833617232</c:v>
                </c:pt>
                <c:pt idx="1">
                  <c:v>0.55909013392518114</c:v>
                </c:pt>
                <c:pt idx="2">
                  <c:v>-0.9375265172869045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6-4A8B-420D-B1D5-1C6B076525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42482543"/>
        <c:axId val="1242471311"/>
      </c:barChart>
      <c:catAx>
        <c:axId val="124248254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42471311"/>
        <c:crosses val="autoZero"/>
        <c:auto val="1"/>
        <c:lblAlgn val="ctr"/>
        <c:lblOffset val="100"/>
        <c:noMultiLvlLbl val="0"/>
      </c:catAx>
      <c:valAx>
        <c:axId val="1242471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42482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TO-BE</a:t>
            </a:r>
            <a:endParaRPr lang="ru-RU"/>
          </a:p>
        </c:rich>
      </c:tx>
      <c:layout>
        <c:manualLayout>
          <c:xMode val="edge"/>
          <c:yMode val="edge"/>
          <c:x val="0.74123572848149111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7852272995208091"/>
          <c:y val="0.13307863482621859"/>
          <c:w val="0.81254694991893983"/>
          <c:h val="0.72176800822839138"/>
        </c:manualLayout>
      </c:layout>
      <c:barChart>
        <c:barDir val="col"/>
        <c:grouping val="clustered"/>
        <c:varyColors val="0"/>
        <c:ser>
          <c:idx val="0"/>
          <c:order val="0"/>
          <c:spPr>
            <a:blipFill rotWithShape="1">
              <a:blip xmlns:r="http://schemas.openxmlformats.org/officeDocument/2006/relationships" r:embed="rId3">
                <a:duotone>
                  <a:schemeClr val="accent1">
                    <a:shade val="36000"/>
                    <a:satMod val="120000"/>
                  </a:schemeClr>
                  <a:schemeClr val="accent1">
                    <a:tint val="40000"/>
                  </a:schemeClr>
                </a:duotone>
              </a:blip>
              <a:tile tx="0" ty="0" sx="60000" sy="59000" flip="none" algn="tl"/>
            </a:blipFill>
            <a:ln>
              <a:noFill/>
            </a:ln>
            <a:effectLst>
              <a:outerShdw blurRad="50800" dist="19050" dir="5400000" algn="tl" rotWithShape="0">
                <a:srgbClr val="000000">
                  <a:alpha val="60000"/>
                </a:srgbClr>
              </a:outerShdw>
              <a:softEdge rad="12700"/>
            </a:effectLst>
          </c:spPr>
          <c:invertIfNegative val="0"/>
          <c:dPt>
            <c:idx val="0"/>
            <c:invertIfNegative val="0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1">
                      <a:shade val="36000"/>
                      <a:satMod val="120000"/>
                    </a:schemeClr>
                    <a:schemeClr val="accent1">
                      <a:tint val="40000"/>
                    </a:schemeClr>
                  </a:duotone>
                </a:blip>
                <a:tile tx="0" ty="0" sx="60000" sy="59000" flip="none" algn="tl"/>
              </a:blipFill>
              <a:ln>
                <a:noFill/>
              </a:ln>
              <a:effectLst>
                <a:outerShdw blurRad="50800" dist="19050" dir="5400000" algn="tl" rotWithShape="0">
                  <a:srgbClr val="000000">
                    <a:alpha val="60000"/>
                  </a:srgbClr>
                </a:outerShdw>
                <a:softEdge rad="12700"/>
              </a:effectLst>
            </c:spPr>
            <c:extLst>
              <c:ext xmlns:c16="http://schemas.microsoft.com/office/drawing/2014/chart" uri="{C3380CC4-5D6E-409C-BE32-E72D297353CC}">
                <c16:uniqueId val="{00000001-6C31-4A82-AACF-37AD7A59AB15}"/>
              </c:ext>
            </c:extLst>
          </c:dPt>
          <c:dPt>
            <c:idx val="1"/>
            <c:invertIfNegative val="0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1">
                      <a:shade val="36000"/>
                      <a:satMod val="120000"/>
                    </a:schemeClr>
                    <a:schemeClr val="accent1">
                      <a:tint val="40000"/>
                    </a:schemeClr>
                  </a:duotone>
                </a:blip>
                <a:tile tx="0" ty="0" sx="60000" sy="59000" flip="none" algn="tl"/>
              </a:blipFill>
              <a:ln>
                <a:noFill/>
              </a:ln>
              <a:effectLst>
                <a:outerShdw blurRad="50800" dist="19050" dir="5400000" algn="tl" rotWithShape="0">
                  <a:srgbClr val="000000">
                    <a:alpha val="60000"/>
                  </a:srgbClr>
                </a:outerShdw>
                <a:softEdge rad="12700"/>
              </a:effectLst>
            </c:spPr>
            <c:extLst>
              <c:ext xmlns:c16="http://schemas.microsoft.com/office/drawing/2014/chart" uri="{C3380CC4-5D6E-409C-BE32-E72D297353CC}">
                <c16:uniqueId val="{00000003-6C31-4A82-AACF-37AD7A59AB15}"/>
              </c:ext>
            </c:extLst>
          </c:dPt>
          <c:dPt>
            <c:idx val="2"/>
            <c:invertIfNegative val="0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1">
                      <a:shade val="36000"/>
                      <a:satMod val="120000"/>
                    </a:schemeClr>
                    <a:schemeClr val="accent1">
                      <a:tint val="40000"/>
                    </a:schemeClr>
                  </a:duotone>
                </a:blip>
                <a:tile tx="0" ty="0" sx="60000" sy="59000" flip="none" algn="tl"/>
              </a:blipFill>
              <a:ln>
                <a:noFill/>
              </a:ln>
              <a:effectLst>
                <a:outerShdw blurRad="50800" dist="19050" dir="5400000" algn="tl" rotWithShape="0">
                  <a:srgbClr val="000000">
                    <a:alpha val="60000"/>
                  </a:srgbClr>
                </a:outerShdw>
                <a:softEdge rad="12700"/>
              </a:effectLst>
            </c:spPr>
            <c:extLst>
              <c:ext xmlns:c16="http://schemas.microsoft.com/office/drawing/2014/chart" uri="{C3380CC4-5D6E-409C-BE32-E72D297353CC}">
                <c16:uniqueId val="{00000005-6C31-4A82-AACF-37AD7A59AB1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('Юнит-экономика'!$B$41:$B$42,'Юнит-экономика'!$B$44)</c:f>
              <c:strCache>
                <c:ptCount val="3"/>
                <c:pt idx="0">
                  <c:v>CAC %</c:v>
                </c:pt>
                <c:pt idx="1">
                  <c:v>Fixed Costs %</c:v>
                </c:pt>
                <c:pt idx="2">
                  <c:v>Маржинальность</c:v>
                </c:pt>
              </c:strCache>
              <c:extLst/>
            </c:strRef>
          </c:cat>
          <c:val>
            <c:numRef>
              <c:f>('Юнит-экономика'!$E$41:$E$42,'Юнит-экономика'!$E$44)</c:f>
              <c:numCache>
                <c:formatCode>0.00%</c:formatCode>
                <c:ptCount val="3"/>
                <c:pt idx="0">
                  <c:v>0.17919672983702403</c:v>
                </c:pt>
                <c:pt idx="1">
                  <c:v>0.55909013392518114</c:v>
                </c:pt>
                <c:pt idx="2">
                  <c:v>0.2617131362377948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6-6C31-4A82-AACF-37AD7A59AB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388509055"/>
        <c:axId val="1388514463"/>
      </c:barChart>
      <c:catAx>
        <c:axId val="13885090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88514463"/>
        <c:crosses val="autoZero"/>
        <c:auto val="1"/>
        <c:lblAlgn val="ctr"/>
        <c:lblOffset val="100"/>
        <c:noMultiLvlLbl val="0"/>
      </c:catAx>
      <c:valAx>
        <c:axId val="13885144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88509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AS-IS</a:t>
            </a:r>
            <a:endParaRPr lang="ru-RU"/>
          </a:p>
        </c:rich>
      </c:tx>
      <c:layout>
        <c:manualLayout>
          <c:xMode val="edge"/>
          <c:yMode val="edge"/>
          <c:x val="0.7902877196336882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7852272995208091"/>
          <c:y val="0.13307863482621859"/>
          <c:w val="0.77604527245664423"/>
          <c:h val="0.72176800822839138"/>
        </c:manualLayout>
      </c:layout>
      <c:barChart>
        <c:barDir val="col"/>
        <c:grouping val="clustered"/>
        <c:varyColors val="0"/>
        <c:ser>
          <c:idx val="0"/>
          <c:order val="0"/>
          <c:spPr>
            <a:blipFill rotWithShape="1">
              <a:blip xmlns:r="http://schemas.openxmlformats.org/officeDocument/2006/relationships" r:embed="rId3">
                <a:duotone>
                  <a:schemeClr val="accent1">
                    <a:shade val="36000"/>
                    <a:satMod val="120000"/>
                  </a:schemeClr>
                  <a:schemeClr val="accent1">
                    <a:tint val="40000"/>
                  </a:schemeClr>
                </a:duotone>
              </a:blip>
              <a:tile tx="0" ty="0" sx="60000" sy="59000" flip="none" algn="tl"/>
            </a:blipFill>
            <a:ln>
              <a:noFill/>
            </a:ln>
            <a:effectLst>
              <a:outerShdw blurRad="50800" dist="19050" dir="5400000" algn="tl" rotWithShape="0">
                <a:srgbClr val="000000">
                  <a:alpha val="60000"/>
                </a:srgbClr>
              </a:outerShdw>
              <a:softEdge rad="12700"/>
            </a:effectLst>
          </c:spPr>
          <c:invertIfNegative val="0"/>
          <c:dPt>
            <c:idx val="0"/>
            <c:invertIfNegative val="0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1">
                      <a:shade val="36000"/>
                      <a:satMod val="120000"/>
                    </a:schemeClr>
                    <a:schemeClr val="accent1">
                      <a:tint val="40000"/>
                    </a:schemeClr>
                  </a:duotone>
                </a:blip>
                <a:tile tx="0" ty="0" sx="60000" sy="59000" flip="none" algn="tl"/>
              </a:blipFill>
              <a:ln>
                <a:noFill/>
              </a:ln>
              <a:effectLst>
                <a:outerShdw blurRad="50800" dist="19050" dir="5400000" algn="tl" rotWithShape="0">
                  <a:srgbClr val="000000">
                    <a:alpha val="60000"/>
                  </a:srgbClr>
                </a:outerShdw>
                <a:softEdge rad="12700"/>
              </a:effectLst>
            </c:spPr>
            <c:extLst>
              <c:ext xmlns:c16="http://schemas.microsoft.com/office/drawing/2014/chart" uri="{C3380CC4-5D6E-409C-BE32-E72D297353CC}">
                <c16:uniqueId val="{00000001-85D2-47AB-8029-3289407EB7DD}"/>
              </c:ext>
            </c:extLst>
          </c:dPt>
          <c:dPt>
            <c:idx val="1"/>
            <c:invertIfNegative val="0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1">
                      <a:shade val="36000"/>
                      <a:satMod val="120000"/>
                    </a:schemeClr>
                    <a:schemeClr val="accent1">
                      <a:tint val="40000"/>
                    </a:schemeClr>
                  </a:duotone>
                </a:blip>
                <a:tile tx="0" ty="0" sx="60000" sy="59000" flip="none" algn="tl"/>
              </a:blipFill>
              <a:ln>
                <a:noFill/>
              </a:ln>
              <a:effectLst>
                <a:outerShdw blurRad="50800" dist="19050" dir="5400000" algn="tl" rotWithShape="0">
                  <a:srgbClr val="000000">
                    <a:alpha val="60000"/>
                  </a:srgbClr>
                </a:outerShdw>
                <a:softEdge rad="12700"/>
              </a:effectLst>
            </c:spPr>
            <c:extLst>
              <c:ext xmlns:c16="http://schemas.microsoft.com/office/drawing/2014/chart" uri="{C3380CC4-5D6E-409C-BE32-E72D297353CC}">
                <c16:uniqueId val="{00000003-85D2-47AB-8029-3289407EB7DD}"/>
              </c:ext>
            </c:extLst>
          </c:dPt>
          <c:dPt>
            <c:idx val="2"/>
            <c:invertIfNegative val="0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1">
                      <a:shade val="36000"/>
                      <a:satMod val="120000"/>
                    </a:schemeClr>
                    <a:schemeClr val="accent1">
                      <a:tint val="40000"/>
                    </a:schemeClr>
                  </a:duotone>
                </a:blip>
                <a:tile tx="0" ty="0" sx="60000" sy="59000" flip="none" algn="tl"/>
              </a:blipFill>
              <a:ln>
                <a:noFill/>
              </a:ln>
              <a:effectLst>
                <a:outerShdw blurRad="50800" dist="19050" dir="5400000" algn="tl" rotWithShape="0">
                  <a:srgbClr val="000000">
                    <a:alpha val="60000"/>
                  </a:srgbClr>
                </a:outerShdw>
                <a:softEdge rad="12700"/>
              </a:effectLst>
            </c:spPr>
            <c:extLst>
              <c:ext xmlns:c16="http://schemas.microsoft.com/office/drawing/2014/chart" uri="{C3380CC4-5D6E-409C-BE32-E72D297353CC}">
                <c16:uniqueId val="{00000005-85D2-47AB-8029-3289407EB7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('Юнит-экономика'!$B$41:$B$42,'Юнит-экономика'!$B$44)</c:f>
              <c:strCache>
                <c:ptCount val="3"/>
                <c:pt idx="0">
                  <c:v>CAC %</c:v>
                </c:pt>
                <c:pt idx="1">
                  <c:v>Fixed Costs %</c:v>
                </c:pt>
                <c:pt idx="2">
                  <c:v>Маржинальность</c:v>
                </c:pt>
              </c:strCache>
              <c:extLst/>
            </c:strRef>
          </c:cat>
          <c:val>
            <c:numRef>
              <c:f>('Юнит-экономика'!$C$41:$C$42,'Юнит-экономика'!$C$44)</c:f>
              <c:numCache>
                <c:formatCode>0.00%</c:formatCode>
                <c:ptCount val="3"/>
                <c:pt idx="0">
                  <c:v>1.3784363833617232</c:v>
                </c:pt>
                <c:pt idx="1">
                  <c:v>0.55909013392518114</c:v>
                </c:pt>
                <c:pt idx="2">
                  <c:v>-0.9375265172869045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6-85D2-47AB-8029-3289407EB7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400920719"/>
        <c:axId val="1400931951"/>
      </c:barChart>
      <c:catAx>
        <c:axId val="140092071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00931951"/>
        <c:crosses val="autoZero"/>
        <c:auto val="1"/>
        <c:lblAlgn val="ctr"/>
        <c:lblOffset val="100"/>
        <c:noMultiLvlLbl val="0"/>
      </c:catAx>
      <c:valAx>
        <c:axId val="14009319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00920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TO-BE</a:t>
            </a:r>
            <a:endParaRPr lang="ru-RU"/>
          </a:p>
        </c:rich>
      </c:tx>
      <c:layout>
        <c:manualLayout>
          <c:xMode val="edge"/>
          <c:yMode val="edge"/>
          <c:x val="0.7488552425945621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7852272995208091"/>
          <c:y val="0.13307863482621859"/>
          <c:w val="0.81314383060538098"/>
          <c:h val="0.72176800822839138"/>
        </c:manualLayout>
      </c:layout>
      <c:barChart>
        <c:barDir val="col"/>
        <c:grouping val="clustered"/>
        <c:varyColors val="0"/>
        <c:ser>
          <c:idx val="0"/>
          <c:order val="0"/>
          <c:spPr>
            <a:blipFill rotWithShape="1">
              <a:blip xmlns:r="http://schemas.openxmlformats.org/officeDocument/2006/relationships" r:embed="rId3">
                <a:duotone>
                  <a:schemeClr val="accent1">
                    <a:shade val="36000"/>
                    <a:satMod val="120000"/>
                  </a:schemeClr>
                  <a:schemeClr val="accent1">
                    <a:tint val="40000"/>
                  </a:schemeClr>
                </a:duotone>
              </a:blip>
              <a:tile tx="0" ty="0" sx="60000" sy="59000" flip="none" algn="tl"/>
            </a:blipFill>
            <a:ln>
              <a:noFill/>
            </a:ln>
            <a:effectLst>
              <a:outerShdw blurRad="50800" dist="19050" dir="5400000" algn="tl" rotWithShape="0">
                <a:srgbClr val="000000">
                  <a:alpha val="60000"/>
                </a:srgbClr>
              </a:outerShdw>
              <a:softEdge rad="12700"/>
            </a:effectLst>
          </c:spPr>
          <c:invertIfNegative val="0"/>
          <c:dPt>
            <c:idx val="0"/>
            <c:invertIfNegative val="0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1">
                      <a:shade val="36000"/>
                      <a:satMod val="120000"/>
                    </a:schemeClr>
                    <a:schemeClr val="accent1">
                      <a:tint val="40000"/>
                    </a:schemeClr>
                  </a:duotone>
                </a:blip>
                <a:tile tx="0" ty="0" sx="60000" sy="59000" flip="none" algn="tl"/>
              </a:blipFill>
              <a:ln>
                <a:noFill/>
              </a:ln>
              <a:effectLst>
                <a:outerShdw blurRad="50800" dist="19050" dir="5400000" algn="tl" rotWithShape="0">
                  <a:srgbClr val="000000">
                    <a:alpha val="60000"/>
                  </a:srgbClr>
                </a:outerShdw>
                <a:softEdge rad="12700"/>
              </a:effectLst>
            </c:spPr>
            <c:extLst>
              <c:ext xmlns:c16="http://schemas.microsoft.com/office/drawing/2014/chart" uri="{C3380CC4-5D6E-409C-BE32-E72D297353CC}">
                <c16:uniqueId val="{00000001-68DD-411E-BF70-300255A5C239}"/>
              </c:ext>
            </c:extLst>
          </c:dPt>
          <c:dPt>
            <c:idx val="1"/>
            <c:invertIfNegative val="0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1">
                      <a:shade val="36000"/>
                      <a:satMod val="120000"/>
                    </a:schemeClr>
                    <a:schemeClr val="accent1">
                      <a:tint val="40000"/>
                    </a:schemeClr>
                  </a:duotone>
                </a:blip>
                <a:tile tx="0" ty="0" sx="60000" sy="59000" flip="none" algn="tl"/>
              </a:blipFill>
              <a:ln>
                <a:noFill/>
              </a:ln>
              <a:effectLst>
                <a:outerShdw blurRad="50800" dist="19050" dir="5400000" algn="tl" rotWithShape="0">
                  <a:srgbClr val="000000">
                    <a:alpha val="60000"/>
                  </a:srgbClr>
                </a:outerShdw>
                <a:softEdge rad="12700"/>
              </a:effectLst>
            </c:spPr>
            <c:extLst>
              <c:ext xmlns:c16="http://schemas.microsoft.com/office/drawing/2014/chart" uri="{C3380CC4-5D6E-409C-BE32-E72D297353CC}">
                <c16:uniqueId val="{00000003-68DD-411E-BF70-300255A5C239}"/>
              </c:ext>
            </c:extLst>
          </c:dPt>
          <c:dPt>
            <c:idx val="2"/>
            <c:invertIfNegative val="0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1">
                      <a:shade val="36000"/>
                      <a:satMod val="120000"/>
                    </a:schemeClr>
                    <a:schemeClr val="accent1">
                      <a:tint val="40000"/>
                    </a:schemeClr>
                  </a:duotone>
                </a:blip>
                <a:tile tx="0" ty="0" sx="60000" sy="59000" flip="none" algn="tl"/>
              </a:blipFill>
              <a:ln>
                <a:noFill/>
              </a:ln>
              <a:effectLst>
                <a:outerShdw blurRad="50800" dist="19050" dir="5400000" algn="tl" rotWithShape="0">
                  <a:srgbClr val="000000">
                    <a:alpha val="60000"/>
                  </a:srgbClr>
                </a:outerShdw>
                <a:softEdge rad="12700"/>
              </a:effectLst>
            </c:spPr>
            <c:extLst>
              <c:ext xmlns:c16="http://schemas.microsoft.com/office/drawing/2014/chart" uri="{C3380CC4-5D6E-409C-BE32-E72D297353CC}">
                <c16:uniqueId val="{00000005-68DD-411E-BF70-300255A5C23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('Юнит-экономика'!$B$58:$B$59,'Юнит-экономика'!$B$61)</c:f>
              <c:strCache>
                <c:ptCount val="3"/>
                <c:pt idx="0">
                  <c:v>CAC %</c:v>
                </c:pt>
                <c:pt idx="1">
                  <c:v>Fixed Costs %</c:v>
                </c:pt>
                <c:pt idx="2">
                  <c:v>Маржинальность</c:v>
                </c:pt>
              </c:strCache>
              <c:extLst/>
            </c:strRef>
          </c:cat>
          <c:val>
            <c:numRef>
              <c:f>('Юнит-экономика'!$E$58:$E$59,'Юнит-экономика'!$E$61)</c:f>
              <c:numCache>
                <c:formatCode>0.00%</c:formatCode>
                <c:ptCount val="3"/>
                <c:pt idx="0">
                  <c:v>0.18666735841095466</c:v>
                </c:pt>
                <c:pt idx="1">
                  <c:v>0.55909013392518114</c:v>
                </c:pt>
                <c:pt idx="2">
                  <c:v>0.25424250766386425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6-68DD-411E-BF70-300255A5C2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503099135"/>
        <c:axId val="1503098303"/>
      </c:barChart>
      <c:catAx>
        <c:axId val="150309913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03098303"/>
        <c:crosses val="autoZero"/>
        <c:auto val="1"/>
        <c:lblAlgn val="ctr"/>
        <c:lblOffset val="100"/>
        <c:noMultiLvlLbl val="0"/>
      </c:catAx>
      <c:valAx>
        <c:axId val="1503098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030991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AS-IS</a:t>
            </a:r>
            <a:endParaRPr lang="ru-RU"/>
          </a:p>
        </c:rich>
      </c:tx>
      <c:layout>
        <c:manualLayout>
          <c:xMode val="edge"/>
          <c:yMode val="edge"/>
          <c:x val="0.79824363205227822"/>
          <c:y val="5.014019514406028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7852272995208091"/>
          <c:y val="0.13307863482621859"/>
          <c:w val="0.77847137616957396"/>
          <c:h val="0.72176800822839138"/>
        </c:manualLayout>
      </c:layout>
      <c:barChart>
        <c:barDir val="col"/>
        <c:grouping val="clustered"/>
        <c:varyColors val="0"/>
        <c:ser>
          <c:idx val="0"/>
          <c:order val="0"/>
          <c:spPr>
            <a:blipFill rotWithShape="1">
              <a:blip xmlns:r="http://schemas.openxmlformats.org/officeDocument/2006/relationships" r:embed="rId3">
                <a:duotone>
                  <a:schemeClr val="accent1">
                    <a:shade val="36000"/>
                    <a:satMod val="120000"/>
                  </a:schemeClr>
                  <a:schemeClr val="accent1">
                    <a:tint val="40000"/>
                  </a:schemeClr>
                </a:duotone>
              </a:blip>
              <a:tile tx="0" ty="0" sx="60000" sy="59000" flip="none" algn="tl"/>
            </a:blipFill>
            <a:ln>
              <a:noFill/>
            </a:ln>
            <a:effectLst>
              <a:outerShdw blurRad="50800" dist="19050" dir="5400000" algn="tl" rotWithShape="0">
                <a:srgbClr val="000000">
                  <a:alpha val="60000"/>
                </a:srgbClr>
              </a:outerShdw>
              <a:softEdge rad="12700"/>
            </a:effectLst>
          </c:spPr>
          <c:invertIfNegative val="0"/>
          <c:dPt>
            <c:idx val="0"/>
            <c:invertIfNegative val="0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1">
                      <a:shade val="36000"/>
                      <a:satMod val="120000"/>
                    </a:schemeClr>
                    <a:schemeClr val="accent1">
                      <a:tint val="40000"/>
                    </a:schemeClr>
                  </a:duotone>
                </a:blip>
                <a:tile tx="0" ty="0" sx="60000" sy="59000" flip="none" algn="tl"/>
              </a:blipFill>
              <a:ln>
                <a:noFill/>
              </a:ln>
              <a:effectLst>
                <a:outerShdw blurRad="50800" dist="19050" dir="5400000" algn="tl" rotWithShape="0">
                  <a:srgbClr val="000000">
                    <a:alpha val="60000"/>
                  </a:srgbClr>
                </a:outerShdw>
                <a:softEdge rad="12700"/>
              </a:effectLst>
            </c:spPr>
            <c:extLst>
              <c:ext xmlns:c16="http://schemas.microsoft.com/office/drawing/2014/chart" uri="{C3380CC4-5D6E-409C-BE32-E72D297353CC}">
                <c16:uniqueId val="{00000001-85D2-47AB-8029-3289407EB7DD}"/>
              </c:ext>
            </c:extLst>
          </c:dPt>
          <c:dPt>
            <c:idx val="1"/>
            <c:invertIfNegative val="0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1">
                      <a:shade val="36000"/>
                      <a:satMod val="120000"/>
                    </a:schemeClr>
                    <a:schemeClr val="accent1">
                      <a:tint val="40000"/>
                    </a:schemeClr>
                  </a:duotone>
                </a:blip>
                <a:tile tx="0" ty="0" sx="60000" sy="59000" flip="none" algn="tl"/>
              </a:blipFill>
              <a:ln>
                <a:noFill/>
              </a:ln>
              <a:effectLst>
                <a:outerShdw blurRad="50800" dist="19050" dir="5400000" algn="tl" rotWithShape="0">
                  <a:srgbClr val="000000">
                    <a:alpha val="60000"/>
                  </a:srgbClr>
                </a:outerShdw>
                <a:softEdge rad="12700"/>
              </a:effectLst>
            </c:spPr>
            <c:extLst>
              <c:ext xmlns:c16="http://schemas.microsoft.com/office/drawing/2014/chart" uri="{C3380CC4-5D6E-409C-BE32-E72D297353CC}">
                <c16:uniqueId val="{00000003-85D2-47AB-8029-3289407EB7DD}"/>
              </c:ext>
            </c:extLst>
          </c:dPt>
          <c:dPt>
            <c:idx val="2"/>
            <c:invertIfNegative val="0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1">
                      <a:shade val="36000"/>
                      <a:satMod val="120000"/>
                    </a:schemeClr>
                    <a:schemeClr val="accent1">
                      <a:tint val="40000"/>
                    </a:schemeClr>
                  </a:duotone>
                </a:blip>
                <a:tile tx="0" ty="0" sx="60000" sy="59000" flip="none" algn="tl"/>
              </a:blipFill>
              <a:ln>
                <a:noFill/>
              </a:ln>
              <a:effectLst>
                <a:outerShdw blurRad="50800" dist="19050" dir="5400000" algn="tl" rotWithShape="0">
                  <a:srgbClr val="000000">
                    <a:alpha val="60000"/>
                  </a:srgbClr>
                </a:outerShdw>
                <a:softEdge rad="12700"/>
              </a:effectLst>
            </c:spPr>
            <c:extLst>
              <c:ext xmlns:c16="http://schemas.microsoft.com/office/drawing/2014/chart" uri="{C3380CC4-5D6E-409C-BE32-E72D297353CC}">
                <c16:uniqueId val="{00000005-85D2-47AB-8029-3289407EB7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('Юнит-экономика'!$B$41:$B$42,'Юнит-экономика'!$B$44)</c:f>
              <c:strCache>
                <c:ptCount val="3"/>
                <c:pt idx="0">
                  <c:v>CAC %</c:v>
                </c:pt>
                <c:pt idx="1">
                  <c:v>Fixed Costs %</c:v>
                </c:pt>
                <c:pt idx="2">
                  <c:v>Маржинальность</c:v>
                </c:pt>
              </c:strCache>
              <c:extLst/>
            </c:strRef>
          </c:cat>
          <c:val>
            <c:numRef>
              <c:f>('Юнит-экономика'!$C$41:$C$42,'Юнит-экономика'!$C$44)</c:f>
              <c:numCache>
                <c:formatCode>0.00%</c:formatCode>
                <c:ptCount val="3"/>
                <c:pt idx="0">
                  <c:v>1.3784363833617232</c:v>
                </c:pt>
                <c:pt idx="1">
                  <c:v>0.55909013392518114</c:v>
                </c:pt>
                <c:pt idx="2">
                  <c:v>-0.9375265172869045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6-85D2-47AB-8029-3289407EB7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400936943"/>
        <c:axId val="1400925295"/>
      </c:barChart>
      <c:catAx>
        <c:axId val="140093694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00925295"/>
        <c:crosses val="autoZero"/>
        <c:auto val="1"/>
        <c:lblAlgn val="ctr"/>
        <c:lblOffset val="100"/>
        <c:noMultiLvlLbl val="0"/>
      </c:catAx>
      <c:valAx>
        <c:axId val="1400925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009369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TO-BE</a:t>
            </a:r>
            <a:endParaRPr lang="ru-RU"/>
          </a:p>
        </c:rich>
      </c:tx>
      <c:layout>
        <c:manualLayout>
          <c:xMode val="edge"/>
          <c:yMode val="edge"/>
          <c:x val="0.75041274029500071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7852272995208091"/>
          <c:y val="0.13307863482621859"/>
          <c:w val="0.82134738680422748"/>
          <c:h val="0.72176800822839138"/>
        </c:manualLayout>
      </c:layout>
      <c:barChart>
        <c:barDir val="col"/>
        <c:grouping val="clustered"/>
        <c:varyColors val="0"/>
        <c:ser>
          <c:idx val="0"/>
          <c:order val="0"/>
          <c:spPr>
            <a:blipFill rotWithShape="1">
              <a:blip xmlns:r="http://schemas.openxmlformats.org/officeDocument/2006/relationships" r:embed="rId3">
                <a:duotone>
                  <a:schemeClr val="accent1">
                    <a:shade val="36000"/>
                    <a:satMod val="120000"/>
                  </a:schemeClr>
                  <a:schemeClr val="accent1">
                    <a:tint val="40000"/>
                  </a:schemeClr>
                </a:duotone>
              </a:blip>
              <a:tile tx="0" ty="0" sx="60000" sy="59000" flip="none" algn="tl"/>
            </a:blipFill>
            <a:ln>
              <a:noFill/>
            </a:ln>
            <a:effectLst>
              <a:outerShdw blurRad="50800" dist="19050" dir="5400000" algn="tl" rotWithShape="0">
                <a:srgbClr val="000000">
                  <a:alpha val="60000"/>
                </a:srgbClr>
              </a:outerShdw>
              <a:softEdge rad="12700"/>
            </a:effectLst>
          </c:spPr>
          <c:invertIfNegative val="0"/>
          <c:dPt>
            <c:idx val="0"/>
            <c:invertIfNegative val="0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1">
                      <a:shade val="36000"/>
                      <a:satMod val="120000"/>
                    </a:schemeClr>
                    <a:schemeClr val="accent1">
                      <a:tint val="40000"/>
                    </a:schemeClr>
                  </a:duotone>
                </a:blip>
                <a:tile tx="0" ty="0" sx="60000" sy="59000" flip="none" algn="tl"/>
              </a:blipFill>
              <a:ln>
                <a:noFill/>
              </a:ln>
              <a:effectLst>
                <a:outerShdw blurRad="50800" dist="19050" dir="5400000" algn="tl" rotWithShape="0">
                  <a:srgbClr val="000000">
                    <a:alpha val="60000"/>
                  </a:srgbClr>
                </a:outerShdw>
                <a:softEdge rad="12700"/>
              </a:effectLst>
            </c:spPr>
            <c:extLst>
              <c:ext xmlns:c16="http://schemas.microsoft.com/office/drawing/2014/chart" uri="{C3380CC4-5D6E-409C-BE32-E72D297353CC}">
                <c16:uniqueId val="{00000001-3EFC-41FE-AC90-D9332872041B}"/>
              </c:ext>
            </c:extLst>
          </c:dPt>
          <c:dPt>
            <c:idx val="1"/>
            <c:invertIfNegative val="0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1">
                      <a:shade val="36000"/>
                      <a:satMod val="120000"/>
                    </a:schemeClr>
                    <a:schemeClr val="accent1">
                      <a:tint val="40000"/>
                    </a:schemeClr>
                  </a:duotone>
                </a:blip>
                <a:tile tx="0" ty="0" sx="60000" sy="59000" flip="none" algn="tl"/>
              </a:blipFill>
              <a:ln>
                <a:noFill/>
              </a:ln>
              <a:effectLst>
                <a:outerShdw blurRad="50800" dist="19050" dir="5400000" algn="tl" rotWithShape="0">
                  <a:srgbClr val="000000">
                    <a:alpha val="60000"/>
                  </a:srgbClr>
                </a:outerShdw>
                <a:softEdge rad="12700"/>
              </a:effectLst>
            </c:spPr>
            <c:extLst>
              <c:ext xmlns:c16="http://schemas.microsoft.com/office/drawing/2014/chart" uri="{C3380CC4-5D6E-409C-BE32-E72D297353CC}">
                <c16:uniqueId val="{00000003-3EFC-41FE-AC90-D9332872041B}"/>
              </c:ext>
            </c:extLst>
          </c:dPt>
          <c:dPt>
            <c:idx val="2"/>
            <c:invertIfNegative val="0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1">
                      <a:shade val="36000"/>
                      <a:satMod val="120000"/>
                    </a:schemeClr>
                    <a:schemeClr val="accent1">
                      <a:tint val="40000"/>
                    </a:schemeClr>
                  </a:duotone>
                </a:blip>
                <a:tile tx="0" ty="0" sx="60000" sy="59000" flip="none" algn="tl"/>
              </a:blipFill>
              <a:ln>
                <a:noFill/>
              </a:ln>
              <a:effectLst>
                <a:outerShdw blurRad="50800" dist="19050" dir="5400000" algn="tl" rotWithShape="0">
                  <a:srgbClr val="000000">
                    <a:alpha val="60000"/>
                  </a:srgbClr>
                </a:outerShdw>
                <a:softEdge rad="12700"/>
              </a:effectLst>
            </c:spPr>
            <c:extLst>
              <c:ext xmlns:c16="http://schemas.microsoft.com/office/drawing/2014/chart" uri="{C3380CC4-5D6E-409C-BE32-E72D297353CC}">
                <c16:uniqueId val="{00000005-3EFC-41FE-AC90-D9332872041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('Юнит-экономика'!$B$75:$B$76,'Юнит-экономика'!$B$78)</c:f>
              <c:strCache>
                <c:ptCount val="3"/>
                <c:pt idx="0">
                  <c:v>CAC %</c:v>
                </c:pt>
                <c:pt idx="1">
                  <c:v>Fixed Costs %</c:v>
                </c:pt>
                <c:pt idx="2">
                  <c:v>Маржинальность</c:v>
                </c:pt>
              </c:strCache>
              <c:extLst/>
            </c:strRef>
          </c:cat>
          <c:val>
            <c:numRef>
              <c:f>('Юнит-экономика'!$E$75:$E$76,'Юнит-экономика'!$E$78)</c:f>
              <c:numCache>
                <c:formatCode>0.00%</c:formatCode>
                <c:ptCount val="3"/>
                <c:pt idx="0">
                  <c:v>0.22572356422901033</c:v>
                </c:pt>
                <c:pt idx="1">
                  <c:v>0.52153813046871478</c:v>
                </c:pt>
                <c:pt idx="2">
                  <c:v>0.25273830530227492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6-3EFC-41FE-AC90-D933287204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503104543"/>
        <c:axId val="1503086655"/>
      </c:barChart>
      <c:catAx>
        <c:axId val="150310454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03086655"/>
        <c:crosses val="autoZero"/>
        <c:auto val="1"/>
        <c:lblAlgn val="ctr"/>
        <c:lblOffset val="100"/>
        <c:noMultiLvlLbl val="0"/>
      </c:catAx>
      <c:valAx>
        <c:axId val="1503086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03104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2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2C2F-EBFB-4387-822F-5360866A3202}" type="datetimeFigureOut">
              <a:rPr lang="ru-RU" smtClean="0"/>
              <a:t>14.06.2023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FB680C86-F413-43FE-A010-FAFE1491C2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173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2C2F-EBFB-4387-822F-5360866A3202}" type="datetimeFigureOut">
              <a:rPr lang="ru-RU" smtClean="0"/>
              <a:t>14.06.2023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0C86-F413-43FE-A010-FAFE1491C2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277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14E22C2F-EBFB-4387-822F-5360866A3202}" type="datetimeFigureOut">
              <a:rPr lang="ru-RU" smtClean="0"/>
              <a:t>14.06.2023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FB680C86-F413-43FE-A010-FAFE1491C2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2977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2C2F-EBFB-4387-822F-5360866A3202}" type="datetimeFigureOut">
              <a:rPr lang="ru-RU" smtClean="0"/>
              <a:t>14.06.2023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0C86-F413-43FE-A010-FAFE1491C2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050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2C2F-EBFB-4387-822F-5360866A3202}" type="datetimeFigureOut">
              <a:rPr lang="ru-RU" smtClean="0"/>
              <a:t>14.06.2023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0C86-F413-43FE-A010-FAFE1491C2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55670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2C2F-EBFB-4387-822F-5360866A3202}" type="datetimeFigureOut">
              <a:rPr lang="ru-RU" smtClean="0"/>
              <a:t>14.06.2023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0C86-F413-43FE-A010-FAFE1491C2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3412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2C2F-EBFB-4387-822F-5360866A3202}" type="datetimeFigureOut">
              <a:rPr lang="ru-RU" smtClean="0"/>
              <a:t>14.06.2023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0C86-F413-43FE-A010-FAFE1491C2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8419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2C2F-EBFB-4387-822F-5360866A3202}" type="datetimeFigureOut">
              <a:rPr lang="ru-RU" smtClean="0"/>
              <a:t>14.06.2023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0C86-F413-43FE-A010-FAFE1491C2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85228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2C2F-EBFB-4387-822F-5360866A3202}" type="datetimeFigureOut">
              <a:rPr lang="ru-RU" smtClean="0"/>
              <a:t>14.06.2023</a:t>
            </a:fld>
            <a:endParaRPr lang="ru-R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0C86-F413-43FE-A010-FAFE1491C2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211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2C2F-EBFB-4387-822F-5360866A3202}" type="datetimeFigureOut">
              <a:rPr lang="ru-RU" smtClean="0"/>
              <a:t>14.06.2023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0C86-F413-43FE-A010-FAFE1491C2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168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2C2F-EBFB-4387-822F-5360866A3202}" type="datetimeFigureOut">
              <a:rPr lang="ru-RU" smtClean="0"/>
              <a:t>14.06.2023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0C86-F413-43FE-A010-FAFE1491C2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506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4E22C2F-EBFB-4387-822F-5360866A3202}" type="datetimeFigureOut">
              <a:rPr lang="ru-RU" smtClean="0"/>
              <a:t>14.06.2023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FB680C86-F413-43FE-A010-FAFE1491C2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15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A915B-F670-452A-BAA6-3E707454B9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ОЦЕНКА</a:t>
            </a:r>
            <a:br>
              <a:rPr lang="ru-RU" b="1" dirty="0"/>
            </a:br>
            <a:r>
              <a:rPr lang="ru-RU" b="1" dirty="0"/>
              <a:t>ЭФФЕКТИВНОСТИ РАБОТЫ ОНЛАЙН-КИНОТЕАТРА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F1EB4284-4E30-461B-95FF-3EF0763FE339}"/>
              </a:ext>
            </a:extLst>
          </p:cNvPr>
          <p:cNvSpPr txBox="1">
            <a:spLocks/>
          </p:cNvSpPr>
          <p:nvPr/>
        </p:nvSpPr>
        <p:spPr>
          <a:xfrm>
            <a:off x="8243455" y="6432046"/>
            <a:ext cx="3463636" cy="4259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Исполнитель: Лыков Г.А.</a:t>
            </a:r>
          </a:p>
        </p:txBody>
      </p:sp>
    </p:spTree>
    <p:extLst>
      <p:ext uri="{BB962C8B-B14F-4D97-AF65-F5344CB8AC3E}">
        <p14:creationId xmlns:p14="http://schemas.microsoft.com/office/powerpoint/2010/main" val="1473630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BDA800-8474-431D-958D-A6993D5D0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736F53-2DB1-4673-A851-B888B6167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Онлайн-кинотеатр «</a:t>
            </a:r>
            <a:r>
              <a:rPr lang="ru-R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Скай-Синема</a:t>
            </a: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» работает по модели ежемесячной подписки.</a:t>
            </a:r>
          </a:p>
          <a:p>
            <a:pPr marL="0" indent="0" algn="just">
              <a:buNone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В данной работе:</a:t>
            </a:r>
          </a:p>
          <a:p>
            <a:pPr algn="just"/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Проанализированы данные по подпискам, просмотрам и пользовательской активности.</a:t>
            </a:r>
          </a:p>
          <a:p>
            <a:pPr algn="just"/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Проводится оценка эффективности работы кинотеатра по модели ежемесячной подписки с точки зрения финансовой составляющей.</a:t>
            </a:r>
          </a:p>
          <a:p>
            <a:pPr algn="just"/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Посчитана юнит-экономика продукта и предложены сценарии по настройке параметров для выхода на 25 % маржинальность.</a:t>
            </a:r>
          </a:p>
          <a:p>
            <a:pPr algn="just"/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Собран калькулятор юнит-экономики для быстрого принятия решений.</a:t>
            </a:r>
          </a:p>
        </p:txBody>
      </p:sp>
    </p:spTree>
    <p:extLst>
      <p:ext uri="{BB962C8B-B14F-4D97-AF65-F5344CB8AC3E}">
        <p14:creationId xmlns:p14="http://schemas.microsoft.com/office/powerpoint/2010/main" val="1186660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CB61D5-EC92-4906-9050-EB29AA03D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238"/>
            <a:ext cx="10515600" cy="715530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подписки</a:t>
            </a:r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612185C4-05A3-4825-B302-3B75D63869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4925288"/>
              </p:ext>
            </p:extLst>
          </p:nvPr>
        </p:nvGraphicFramePr>
        <p:xfrm>
          <a:off x="947143" y="1181064"/>
          <a:ext cx="7268809" cy="52356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B039AC6-19FA-41ED-A644-C3534C793436}"/>
              </a:ext>
            </a:extLst>
          </p:cNvPr>
          <p:cNvSpPr txBox="1"/>
          <p:nvPr/>
        </p:nvSpPr>
        <p:spPr>
          <a:xfrm>
            <a:off x="8529849" y="1112203"/>
            <a:ext cx="310796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Общее количество подписок стремительно возрастает с марта по май, достигает пика в июне и постепенно снижается в июле и августе.</a:t>
            </a:r>
          </a:p>
          <a:p>
            <a:pPr algn="just">
              <a:spcAft>
                <a:spcPts val="600"/>
              </a:spcAft>
            </a:pP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При этом количество новых подписок достигает своего максимума уже в апреле и стремительно снижается с мая по август.</a:t>
            </a:r>
          </a:p>
          <a:p>
            <a:pPr algn="just">
              <a:spcAft>
                <a:spcPts val="600"/>
              </a:spcAft>
            </a:pP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Количество повторных подписок стремительно возрастает до июля, а в августе снижается.</a:t>
            </a:r>
          </a:p>
          <a:p>
            <a:pPr algn="just">
              <a:spcAft>
                <a:spcPts val="600"/>
              </a:spcAft>
            </a:pPr>
            <a:r>
              <a:rPr lang="ru-RU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Retention</a:t>
            </a: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достигает максимального значения в мае и далее начинает стремительно снижаться.</a:t>
            </a:r>
          </a:p>
          <a:p>
            <a:pPr algn="just">
              <a:spcAft>
                <a:spcPts val="600"/>
              </a:spcAft>
            </a:pP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Вероятно, определенное влияние на снижение количества подписок оказывает летний сезон, но однозначно оценить это не представляется возможным из-за отсутствия данных за прошлые годы.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7984C-FDA8-47ED-B6C4-83D526C56943}"/>
              </a:ext>
            </a:extLst>
          </p:cNvPr>
          <p:cNvSpPr txBox="1"/>
          <p:nvPr/>
        </p:nvSpPr>
        <p:spPr>
          <a:xfrm>
            <a:off x="947143" y="6417858"/>
            <a:ext cx="7438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75000"/>
                  </a:schemeClr>
                </a:solidFill>
              </a:rPr>
              <a:t>Примечание: часовые пояса подписчиков не учтены, т.к. их влияние на статистику крайне минимально</a:t>
            </a:r>
          </a:p>
        </p:txBody>
      </p:sp>
    </p:spTree>
    <p:extLst>
      <p:ext uri="{BB962C8B-B14F-4D97-AF65-F5344CB8AC3E}">
        <p14:creationId xmlns:p14="http://schemas.microsoft.com/office/powerpoint/2010/main" val="3009817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CB61D5-EC92-4906-9050-EB29AA03D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238"/>
            <a:ext cx="10515600" cy="715530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подписчики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039AC6-19FA-41ED-A644-C3534C793436}"/>
              </a:ext>
            </a:extLst>
          </p:cNvPr>
          <p:cNvSpPr txBox="1"/>
          <p:nvPr/>
        </p:nvSpPr>
        <p:spPr>
          <a:xfrm>
            <a:off x="8420669" y="1153768"/>
            <a:ext cx="3231004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Большинство подписчиков Кинотеатра, а именно 81 %, приурочено к четырем часовым поясам: UTC+0, UTC+1, UTC+2, UTC+3.</a:t>
            </a:r>
          </a:p>
          <a:p>
            <a:pPr algn="just">
              <a:spcAft>
                <a:spcPts val="600"/>
              </a:spcAft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При этом максимальное количество подписчиков, 29,6 %, приурочено к часовому поясу UTC+1.</a:t>
            </a:r>
          </a:p>
          <a:p>
            <a:pPr algn="just">
              <a:spcAft>
                <a:spcPts val="600"/>
              </a:spcAft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Доля подписчиков из остальных часовых поясов составляет от 0,1 % до</a:t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3,16 %.</a:t>
            </a:r>
          </a:p>
          <a:p>
            <a:pPr algn="just">
              <a:spcAft>
                <a:spcPts val="600"/>
              </a:spcAft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Наименьшее количество подписчиков, по 0,1 %, приурочено к часовым поясам UTC-2 и UTC-9.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DC5B1F71-673A-415A-9AA4-D4F00DD875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4184747"/>
              </p:ext>
            </p:extLst>
          </p:nvPr>
        </p:nvGraphicFramePr>
        <p:xfrm>
          <a:off x="933738" y="1181063"/>
          <a:ext cx="7145738" cy="526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42866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CB61D5-EC92-4906-9050-EB29AA03D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238"/>
            <a:ext cx="10515600" cy="71553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просмотры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039AC6-19FA-41ED-A644-C3534C793436}"/>
              </a:ext>
            </a:extLst>
          </p:cNvPr>
          <p:cNvSpPr txBox="1"/>
          <p:nvPr/>
        </p:nvSpPr>
        <p:spPr>
          <a:xfrm>
            <a:off x="7929349" y="1098348"/>
            <a:ext cx="372232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Общее количество просмотров на платформе имеет тенденцию стремительного роста с марта по июль, после чего происходит небольшое снижение в августе.</a:t>
            </a:r>
          </a:p>
          <a:p>
            <a:pPr algn="just">
              <a:spcAft>
                <a:spcPts val="600"/>
              </a:spcAft>
            </a:pP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При этом количество уникальных просматривающих пользователей в каждом месяце возрастает с марта июнь, а в июле и августе постепенно снижается.</a:t>
            </a:r>
          </a:p>
          <a:p>
            <a:pPr algn="just">
              <a:spcAft>
                <a:spcPts val="600"/>
              </a:spcAft>
            </a:pP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Количество первых просмотров коррелируется с количеством новых подписок и также начинает снижаться уже с апреля.</a:t>
            </a:r>
          </a:p>
          <a:p>
            <a:pPr algn="just">
              <a:spcAft>
                <a:spcPts val="600"/>
              </a:spcAft>
            </a:pP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Среднее количество просмотров на пользователя (интенсивность) стремительно возрастает до мая, после чего замедляется, но тенденция на рост сохраняется.</a:t>
            </a:r>
          </a:p>
          <a:p>
            <a:pPr algn="just">
              <a:spcAft>
                <a:spcPts val="600"/>
              </a:spcAft>
            </a:pP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Вероятно, определенное влияние на снижение количества просмотров оказывает летний сезон, но однозначно оценить это не представляется возможным из-за отсутствия данных за прошлые годы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9954045B-0918-435B-A8B4-CE3A190F12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5284097"/>
              </p:ext>
            </p:extLst>
          </p:nvPr>
        </p:nvGraphicFramePr>
        <p:xfrm>
          <a:off x="919849" y="1206496"/>
          <a:ext cx="6845727" cy="53682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69156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CB61D5-EC92-4906-9050-EB29AA03D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238"/>
            <a:ext cx="10515600" cy="715530"/>
          </a:xfrm>
        </p:spPr>
        <p:txBody>
          <a:bodyPr>
            <a:normAutofit fontScale="90000"/>
          </a:bodyPr>
          <a:lstStyle/>
          <a:p>
            <a:r>
              <a:rPr lang="ru-RU" dirty="0"/>
              <a:t>Активность пользователей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039AC6-19FA-41ED-A644-C3534C793436}"/>
              </a:ext>
            </a:extLst>
          </p:cNvPr>
          <p:cNvSpPr txBox="1"/>
          <p:nvPr/>
        </p:nvSpPr>
        <p:spPr>
          <a:xfrm>
            <a:off x="938285" y="6271809"/>
            <a:ext cx="10415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Активность пользователей выше в выходные дни и во второй половине суток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235E8F29-490F-4E29-BA30-EA127AA911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4963489"/>
              </p:ext>
            </p:extLst>
          </p:nvPr>
        </p:nvGraphicFramePr>
        <p:xfrm>
          <a:off x="947383" y="1126473"/>
          <a:ext cx="10648871" cy="2526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D0E73A89-6A90-4F58-ACBA-D60C1F613A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5511138"/>
              </p:ext>
            </p:extLst>
          </p:nvPr>
        </p:nvGraphicFramePr>
        <p:xfrm>
          <a:off x="947383" y="3699141"/>
          <a:ext cx="10648871" cy="2526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65058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CB61D5-EC92-4906-9050-EB29AA03D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238"/>
            <a:ext cx="10515600" cy="715530"/>
          </a:xfrm>
        </p:spPr>
        <p:txBody>
          <a:bodyPr>
            <a:normAutofit fontScale="90000"/>
          </a:bodyPr>
          <a:lstStyle/>
          <a:p>
            <a:r>
              <a:rPr lang="ru-RU" dirty="0"/>
              <a:t>Популярность фильмов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039AC6-19FA-41ED-A644-C3534C793436}"/>
              </a:ext>
            </a:extLst>
          </p:cNvPr>
          <p:cNvSpPr txBox="1"/>
          <p:nvPr/>
        </p:nvSpPr>
        <p:spPr>
          <a:xfrm>
            <a:off x="9048466" y="1153768"/>
            <a:ext cx="2589351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ru-RU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Всего в базе онлайн-кинотеатра содержится 140 568 фильмов.</a:t>
            </a:r>
          </a:p>
          <a:p>
            <a:pPr algn="just">
              <a:spcAft>
                <a:spcPts val="600"/>
              </a:spcAft>
            </a:pPr>
            <a:r>
              <a:rPr lang="ru-RU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В ТОП-20 фильмов по количеству просмотров четко выделяются под-группы ТОП-5 и ТОП-1.</a:t>
            </a:r>
          </a:p>
          <a:p>
            <a:pPr algn="just">
              <a:spcAft>
                <a:spcPts val="600"/>
              </a:spcAft>
            </a:pPr>
            <a:r>
              <a:rPr lang="ru-RU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Самым популярным фильмом на платформе является Movie_id_411922, который просмотрен</a:t>
            </a:r>
            <a:br>
              <a:rPr lang="ru-RU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8071 раз и почти на 3 тыс. просмотров опережает второй по </a:t>
            </a:r>
            <a:r>
              <a:rPr lang="ru-RU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полулярности</a:t>
            </a:r>
            <a:r>
              <a:rPr lang="ru-RU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Movie_id_411922.</a:t>
            </a:r>
          </a:p>
          <a:p>
            <a:pPr algn="just">
              <a:spcAft>
                <a:spcPts val="600"/>
              </a:spcAft>
            </a:pPr>
            <a:r>
              <a:rPr lang="ru-RU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Пятый по популярности Movie_id_351192 почти на 1 тыс. просмотров опережает шестой по популярности фильм.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4B4E27B3-7418-48D9-962F-EC215DEE76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3330139"/>
              </p:ext>
            </p:extLst>
          </p:nvPr>
        </p:nvGraphicFramePr>
        <p:xfrm>
          <a:off x="960793" y="1194712"/>
          <a:ext cx="7882956" cy="5192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91666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CB61D5-EC92-4906-9050-EB29AA03D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238"/>
            <a:ext cx="10515600" cy="715530"/>
          </a:xfrm>
        </p:spPr>
        <p:txBody>
          <a:bodyPr>
            <a:normAutofit fontScale="90000"/>
          </a:bodyPr>
          <a:lstStyle/>
          <a:p>
            <a:r>
              <a:rPr lang="ru-RU" dirty="0"/>
              <a:t>Экономика кинотеатра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039AC6-19FA-41ED-A644-C3534C793436}"/>
              </a:ext>
            </a:extLst>
          </p:cNvPr>
          <p:cNvSpPr txBox="1"/>
          <p:nvPr/>
        </p:nvSpPr>
        <p:spPr>
          <a:xfrm>
            <a:off x="7938655" y="1070224"/>
            <a:ext cx="3726872" cy="564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 марта по июль кинотеатр работает в убыток, но убыток от месяца к месяцу снижается и в августе удается получить небольшую прибыль.</a:t>
            </a:r>
          </a:p>
          <a:p>
            <a:pPr algn="just">
              <a:spcAft>
                <a:spcPts val="600"/>
              </a:spcAft>
            </a:pP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Выручка Кинотеатра постепенно растет с марта по июнь и постепенно снижается в июле и августе.</a:t>
            </a:r>
          </a:p>
          <a:p>
            <a:pPr algn="just">
              <a:spcAft>
                <a:spcPts val="600"/>
              </a:spcAft>
            </a:pP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Расходы на маркетинг высоки настолько, что превышают выручку.</a:t>
            </a:r>
          </a:p>
          <a:p>
            <a:pPr algn="just">
              <a:spcAft>
                <a:spcPts val="600"/>
              </a:spcAft>
            </a:pP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Однако, маркетинговые расходы и объем скидок снижаются на всем исследуемом периоде.</a:t>
            </a:r>
          </a:p>
          <a:p>
            <a:pPr algn="just">
              <a:spcAft>
                <a:spcPts val="600"/>
              </a:spcAft>
            </a:pP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Из анализа текущего состояния экономики кинотеатра, а также статистики подписок, очевидно, что вывести Кинотеатр на маржинальность 25 % возможно при сохранении тенденции на уменьшение объема скидок, сокращение маркетинговых расходов и увеличении эффективности маркетинга с сохранением или увеличением </a:t>
            </a:r>
            <a:r>
              <a:rPr lang="ru-RU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Retention</a:t>
            </a: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algn="just">
              <a:spcAft>
                <a:spcPts val="600"/>
              </a:spcAft>
            </a:pPr>
            <a:r>
              <a:rPr lang="ru-RU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Далее приводится три сценария вывода Кинотеатра на маржинальность 25 %</a:t>
            </a:r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FC3CC7F9-14A9-49AA-91F0-3A3E29349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10565"/>
              </p:ext>
            </p:extLst>
          </p:nvPr>
        </p:nvGraphicFramePr>
        <p:xfrm>
          <a:off x="947145" y="1194711"/>
          <a:ext cx="6852964" cy="170192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562142">
                  <a:extLst>
                    <a:ext uri="{9D8B030D-6E8A-4147-A177-3AD203B41FA5}">
                      <a16:colId xmlns:a16="http://schemas.microsoft.com/office/drawing/2014/main" val="1740180587"/>
                    </a:ext>
                  </a:extLst>
                </a:gridCol>
                <a:gridCol w="917179">
                  <a:extLst>
                    <a:ext uri="{9D8B030D-6E8A-4147-A177-3AD203B41FA5}">
                      <a16:colId xmlns:a16="http://schemas.microsoft.com/office/drawing/2014/main" val="1836739393"/>
                    </a:ext>
                  </a:extLst>
                </a:gridCol>
                <a:gridCol w="784042">
                  <a:extLst>
                    <a:ext uri="{9D8B030D-6E8A-4147-A177-3AD203B41FA5}">
                      <a16:colId xmlns:a16="http://schemas.microsoft.com/office/drawing/2014/main" val="2393920774"/>
                    </a:ext>
                  </a:extLst>
                </a:gridCol>
                <a:gridCol w="1109493">
                  <a:extLst>
                    <a:ext uri="{9D8B030D-6E8A-4147-A177-3AD203B41FA5}">
                      <a16:colId xmlns:a16="http://schemas.microsoft.com/office/drawing/2014/main" val="822918600"/>
                    </a:ext>
                  </a:extLst>
                </a:gridCol>
                <a:gridCol w="1139079">
                  <a:extLst>
                    <a:ext uri="{9D8B030D-6E8A-4147-A177-3AD203B41FA5}">
                      <a16:colId xmlns:a16="http://schemas.microsoft.com/office/drawing/2014/main" val="163169962"/>
                    </a:ext>
                  </a:extLst>
                </a:gridCol>
                <a:gridCol w="1109493">
                  <a:extLst>
                    <a:ext uri="{9D8B030D-6E8A-4147-A177-3AD203B41FA5}">
                      <a16:colId xmlns:a16="http://schemas.microsoft.com/office/drawing/2014/main" val="3827501742"/>
                    </a:ext>
                  </a:extLst>
                </a:gridCol>
                <a:gridCol w="1231536">
                  <a:extLst>
                    <a:ext uri="{9D8B030D-6E8A-4147-A177-3AD203B41FA5}">
                      <a16:colId xmlns:a16="http://schemas.microsoft.com/office/drawing/2014/main" val="1991908029"/>
                    </a:ext>
                  </a:extLst>
                </a:gridCol>
              </a:tblGrid>
              <a:tr h="63998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Месяц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Базовая</a:t>
                      </a:r>
                      <a:b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цена</a:t>
                      </a:r>
                      <a:b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подписки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Объём скидок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Выручка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Затраты на маркетинг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Постоянные</a:t>
                      </a:r>
                      <a:b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расходы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Убыток/</a:t>
                      </a:r>
                    </a:p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прибыль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extLst>
                  <a:ext uri="{0D108BD9-81ED-4DB2-BD59-A6C34878D82A}">
                    <a16:rowId xmlns:a16="http://schemas.microsoft.com/office/drawing/2014/main" val="714810688"/>
                  </a:ext>
                </a:extLst>
              </a:tr>
              <a:tr h="15999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мар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350,00 ₽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16,21%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58 946,27 ₽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205 731,00 ₽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1 200 000,00 ₽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-1 346 784,74 ₽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extLst>
                  <a:ext uri="{0D108BD9-81ED-4DB2-BD59-A6C34878D82A}">
                    <a16:rowId xmlns:a16="http://schemas.microsoft.com/office/drawing/2014/main" val="2976735593"/>
                  </a:ext>
                </a:extLst>
              </a:tr>
              <a:tr h="15999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апр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350,00 ₽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13,12%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1 608 279,12 ₽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10 219 571,90 ₽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1 200 000,00 ₽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-9 811 292,78 ₽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extLst>
                  <a:ext uri="{0D108BD9-81ED-4DB2-BD59-A6C34878D82A}">
                    <a16:rowId xmlns:a16="http://schemas.microsoft.com/office/drawing/2014/main" val="2175209920"/>
                  </a:ext>
                </a:extLst>
              </a:tr>
              <a:tr h="15999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май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350,00 ₽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9,06%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2 861 480,95 ₽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8 554 785,12 ₽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1 300 000,00 ₽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-6 993 304,17 ₽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extLst>
                  <a:ext uri="{0D108BD9-81ED-4DB2-BD59-A6C34878D82A}">
                    <a16:rowId xmlns:a16="http://schemas.microsoft.com/office/drawing/2014/main" val="377984057"/>
                  </a:ext>
                </a:extLst>
              </a:tr>
              <a:tr h="15999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июн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350,00 ₽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8,89%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3 291 759,77 ₽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8 365 576,86 ₽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1 300 000,00 ₽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-6 373 817,09 ₽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extLst>
                  <a:ext uri="{0D108BD9-81ED-4DB2-BD59-A6C34878D82A}">
                    <a16:rowId xmlns:a16="http://schemas.microsoft.com/office/drawing/2014/main" val="4034513427"/>
                  </a:ext>
                </a:extLst>
              </a:tr>
              <a:tr h="15999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июл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350,00 ₽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8,40%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3 205 517,19 ₽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5 982 209,92 ₽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1 300 000,00 ₽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-4 076 692,72 ₽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extLst>
                  <a:ext uri="{0D108BD9-81ED-4DB2-BD59-A6C34878D82A}">
                    <a16:rowId xmlns:a16="http://schemas.microsoft.com/office/drawing/2014/main" val="4003040984"/>
                  </a:ext>
                </a:extLst>
              </a:tr>
              <a:tr h="16799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авг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350,00 ₽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8,67%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2 567 531,49 ₽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1 094 171,90 ₽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1 300 000,00 ₽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173 359,59 ₽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0" marR="8000" marT="8000" marB="0" anchor="ctr"/>
                </a:tc>
                <a:extLst>
                  <a:ext uri="{0D108BD9-81ED-4DB2-BD59-A6C34878D82A}">
                    <a16:rowId xmlns:a16="http://schemas.microsoft.com/office/drawing/2014/main" val="4219851420"/>
                  </a:ext>
                </a:extLst>
              </a:tr>
            </a:tbl>
          </a:graphicData>
        </a:graphic>
      </p:graphicFrame>
      <p:graphicFrame>
        <p:nvGraphicFramePr>
          <p:cNvPr id="20" name="Объект 19">
            <a:extLst>
              <a:ext uri="{FF2B5EF4-FFF2-40B4-BE49-F238E27FC236}">
                <a16:creationId xmlns:a16="http://schemas.microsoft.com/office/drawing/2014/main" id="{F6FAEB24-EA0C-4EEA-8528-E4A553800B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3138452"/>
              </p:ext>
            </p:extLst>
          </p:nvPr>
        </p:nvGraphicFramePr>
        <p:xfrm>
          <a:off x="947146" y="3000633"/>
          <a:ext cx="6852964" cy="3403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99270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CB61D5-EC92-4906-9050-EB29AA03D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238"/>
            <a:ext cx="10515600" cy="715530"/>
          </a:xfrm>
        </p:spPr>
        <p:txBody>
          <a:bodyPr>
            <a:normAutofit fontScale="90000"/>
          </a:bodyPr>
          <a:lstStyle/>
          <a:p>
            <a:r>
              <a:rPr lang="ru-RU" dirty="0"/>
              <a:t>СЦЕНАРИЙ 1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3CC1AD6C-61D7-4E6A-A5B5-DBD87C7908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2075701"/>
              </p:ext>
            </p:extLst>
          </p:nvPr>
        </p:nvGraphicFramePr>
        <p:xfrm>
          <a:off x="961030" y="1180010"/>
          <a:ext cx="6108511" cy="5138907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043656">
                  <a:extLst>
                    <a:ext uri="{9D8B030D-6E8A-4147-A177-3AD203B41FA5}">
                      <a16:colId xmlns:a16="http://schemas.microsoft.com/office/drawing/2014/main" val="3598471332"/>
                    </a:ext>
                  </a:extLst>
                </a:gridCol>
                <a:gridCol w="1482212">
                  <a:extLst>
                    <a:ext uri="{9D8B030D-6E8A-4147-A177-3AD203B41FA5}">
                      <a16:colId xmlns:a16="http://schemas.microsoft.com/office/drawing/2014/main" val="1548588679"/>
                    </a:ext>
                  </a:extLst>
                </a:gridCol>
                <a:gridCol w="1392382">
                  <a:extLst>
                    <a:ext uri="{9D8B030D-6E8A-4147-A177-3AD203B41FA5}">
                      <a16:colId xmlns:a16="http://schemas.microsoft.com/office/drawing/2014/main" val="4217717222"/>
                    </a:ext>
                  </a:extLst>
                </a:gridCol>
                <a:gridCol w="1190261">
                  <a:extLst>
                    <a:ext uri="{9D8B030D-6E8A-4147-A177-3AD203B41FA5}">
                      <a16:colId xmlns:a16="http://schemas.microsoft.com/office/drawing/2014/main" val="1418309582"/>
                    </a:ext>
                  </a:extLst>
                </a:gridCol>
              </a:tblGrid>
              <a:tr h="45993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Метрика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AS-IS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Изменение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TO-BE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4186760"/>
                  </a:ext>
                </a:extLst>
              </a:tr>
              <a:tr h="3352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Retention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80,60%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80,60%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4733239"/>
                  </a:ext>
                </a:extLst>
              </a:tr>
              <a:tr h="3352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LT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5,15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5,15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2404174"/>
                  </a:ext>
                </a:extLst>
              </a:tr>
              <a:tr h="3352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Price </a:t>
                      </a: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юнита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317,36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317,36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223031"/>
                  </a:ext>
                </a:extLst>
              </a:tr>
              <a:tr h="33523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Объём скидок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9,33%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9,33%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627224"/>
                  </a:ext>
                </a:extLst>
              </a:tr>
              <a:tr h="3352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LTR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1 635,57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1 635,57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276057"/>
                  </a:ext>
                </a:extLst>
              </a:tr>
              <a:tr h="3352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CAC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2 254,52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-87%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293,09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2612134"/>
                  </a:ext>
                </a:extLst>
              </a:tr>
              <a:tr h="335236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8013923"/>
                  </a:ext>
                </a:extLst>
              </a:tr>
              <a:tr h="3352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CAC </a:t>
                      </a: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на юнит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437,46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FFFF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56,87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230014"/>
                  </a:ext>
                </a:extLst>
              </a:tr>
              <a:tr h="6561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Fixed Costs</a:t>
                      </a:r>
                      <a:b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на юнит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177,43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177,43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7082939"/>
                  </a:ext>
                </a:extLst>
              </a:tr>
              <a:tr h="3352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CAC 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137,84%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17,92%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497726"/>
                  </a:ext>
                </a:extLst>
              </a:tr>
              <a:tr h="3352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Fixed Costs 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55,91%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55,91%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7532231"/>
                  </a:ext>
                </a:extLst>
              </a:tr>
              <a:tr h="335236">
                <a:tc gridSpan="4">
                  <a:txBody>
                    <a:bodyPr/>
                    <a:lstStyle/>
                    <a:p>
                      <a:pPr algn="ctr" fontAlgn="ctr"/>
                      <a:endParaRPr lang="ru-RU" sz="1400" b="1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ru-RU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224195"/>
                  </a:ext>
                </a:extLst>
              </a:tr>
              <a:tr h="33523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Маржинальность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-93,75%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26,17%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366373"/>
                  </a:ext>
                </a:extLst>
              </a:tr>
            </a:tbl>
          </a:graphicData>
        </a:graphic>
      </p:graphicFrame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681209A7-F85D-4765-A94C-5A88190F3E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8724623"/>
              </p:ext>
            </p:extLst>
          </p:nvPr>
        </p:nvGraphicFramePr>
        <p:xfrm>
          <a:off x="7478973" y="1180010"/>
          <a:ext cx="3779293" cy="2532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964952E1-F20D-4ABA-B874-F63B93C36D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0783395"/>
              </p:ext>
            </p:extLst>
          </p:nvPr>
        </p:nvGraphicFramePr>
        <p:xfrm>
          <a:off x="7478973" y="3786019"/>
          <a:ext cx="3779293" cy="2532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77358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CB61D5-EC92-4906-9050-EB29AA03D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238"/>
            <a:ext cx="10515600" cy="715530"/>
          </a:xfrm>
        </p:spPr>
        <p:txBody>
          <a:bodyPr>
            <a:normAutofit fontScale="90000"/>
          </a:bodyPr>
          <a:lstStyle/>
          <a:p>
            <a:r>
              <a:rPr lang="ru-RU" dirty="0"/>
              <a:t>СЦЕНАРИЙ 2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C9ECCCCE-4359-48BB-9D8D-9F78EE08C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760611"/>
              </p:ext>
            </p:extLst>
          </p:nvPr>
        </p:nvGraphicFramePr>
        <p:xfrm>
          <a:off x="961031" y="1180010"/>
          <a:ext cx="6108510" cy="5138912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043656">
                  <a:extLst>
                    <a:ext uri="{9D8B030D-6E8A-4147-A177-3AD203B41FA5}">
                      <a16:colId xmlns:a16="http://schemas.microsoft.com/office/drawing/2014/main" val="1232547544"/>
                    </a:ext>
                  </a:extLst>
                </a:gridCol>
                <a:gridCol w="1482212">
                  <a:extLst>
                    <a:ext uri="{9D8B030D-6E8A-4147-A177-3AD203B41FA5}">
                      <a16:colId xmlns:a16="http://schemas.microsoft.com/office/drawing/2014/main" val="3471641119"/>
                    </a:ext>
                  </a:extLst>
                </a:gridCol>
                <a:gridCol w="1392381">
                  <a:extLst>
                    <a:ext uri="{9D8B030D-6E8A-4147-A177-3AD203B41FA5}">
                      <a16:colId xmlns:a16="http://schemas.microsoft.com/office/drawing/2014/main" val="3946808106"/>
                    </a:ext>
                  </a:extLst>
                </a:gridCol>
                <a:gridCol w="1190261">
                  <a:extLst>
                    <a:ext uri="{9D8B030D-6E8A-4147-A177-3AD203B41FA5}">
                      <a16:colId xmlns:a16="http://schemas.microsoft.com/office/drawing/2014/main" val="1360149274"/>
                    </a:ext>
                  </a:extLst>
                </a:gridCol>
              </a:tblGrid>
              <a:tr h="47159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Метрика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AS-IS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Изменение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TO-BE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452932"/>
                  </a:ext>
                </a:extLst>
              </a:tr>
              <a:tr h="3344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Retention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80,60%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12%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90,27%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482764"/>
                  </a:ext>
                </a:extLst>
              </a:tr>
              <a:tr h="3344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LT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5,15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10,28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260326"/>
                  </a:ext>
                </a:extLst>
              </a:tr>
              <a:tr h="3344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Price </a:t>
                      </a:r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юнита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317,36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317,36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7554367"/>
                  </a:ext>
                </a:extLst>
              </a:tr>
              <a:tr h="3344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Объём скидок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9,33%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9,33%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118655"/>
                  </a:ext>
                </a:extLst>
              </a:tr>
              <a:tr h="3344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LTR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1 635,57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3 260,99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530519"/>
                  </a:ext>
                </a:extLst>
              </a:tr>
              <a:tr h="3344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CAC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2 254,52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-73%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608,72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5697840"/>
                  </a:ext>
                </a:extLst>
              </a:tr>
              <a:tr h="334401">
                <a:tc gridSpan="4">
                  <a:txBody>
                    <a:bodyPr/>
                    <a:lstStyle/>
                    <a:p>
                      <a:pPr algn="ctr" fontAlgn="ctr"/>
                      <a:endParaRPr lang="ru-RU" sz="1400" b="1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465458"/>
                  </a:ext>
                </a:extLst>
              </a:tr>
              <a:tr h="3344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CAC </a:t>
                      </a:r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на юнит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437,46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FFFF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59,24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38238"/>
                  </a:ext>
                </a:extLst>
              </a:tr>
              <a:tr h="6545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Fixed Costs</a:t>
                      </a:r>
                      <a:b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на юнит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177,43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177,43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702449"/>
                  </a:ext>
                </a:extLst>
              </a:tr>
              <a:tr h="3344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CAC 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137,84%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18,67%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2473929"/>
                  </a:ext>
                </a:extLst>
              </a:tr>
              <a:tr h="3344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Fixed Costs 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55,91%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55,91%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43199"/>
                  </a:ext>
                </a:extLst>
              </a:tr>
              <a:tr h="334401">
                <a:tc gridSpan="4">
                  <a:txBody>
                    <a:bodyPr/>
                    <a:lstStyle/>
                    <a:p>
                      <a:pPr algn="ctr" fontAlgn="ctr"/>
                      <a:endParaRPr lang="ru-RU" sz="1400" b="1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704928"/>
                  </a:ext>
                </a:extLst>
              </a:tr>
              <a:tr h="3344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Маржинальность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-93,75%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25,42%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8802664"/>
                  </a:ext>
                </a:extLst>
              </a:tr>
            </a:tbl>
          </a:graphicData>
        </a:graphic>
      </p:graphicFrame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766051BD-29CE-43F4-A54E-6B909543B8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1125626"/>
              </p:ext>
            </p:extLst>
          </p:nvPr>
        </p:nvGraphicFramePr>
        <p:xfrm>
          <a:off x="7492621" y="1180010"/>
          <a:ext cx="3765645" cy="2532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7157FE23-3FA5-4507-9181-1870DE88C3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2193959"/>
              </p:ext>
            </p:extLst>
          </p:nvPr>
        </p:nvGraphicFramePr>
        <p:xfrm>
          <a:off x="7492621" y="3784966"/>
          <a:ext cx="3765645" cy="2532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69704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CB61D5-EC92-4906-9050-EB29AA03D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238"/>
            <a:ext cx="10515600" cy="715530"/>
          </a:xfrm>
        </p:spPr>
        <p:txBody>
          <a:bodyPr>
            <a:normAutofit fontScale="90000"/>
          </a:bodyPr>
          <a:lstStyle/>
          <a:p>
            <a:r>
              <a:rPr lang="ru-RU" dirty="0"/>
              <a:t>СЦЕНАРИЙ 3</a:t>
            </a: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766051BD-29CE-43F4-A54E-6B909543B8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7303851"/>
              </p:ext>
            </p:extLst>
          </p:nvPr>
        </p:nvGraphicFramePr>
        <p:xfrm>
          <a:off x="7465325" y="1180010"/>
          <a:ext cx="3792941" cy="2532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D80B117-6526-420F-8846-3E560C8F9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128374"/>
              </p:ext>
            </p:extLst>
          </p:nvPr>
        </p:nvGraphicFramePr>
        <p:xfrm>
          <a:off x="961031" y="1180539"/>
          <a:ext cx="6108510" cy="513785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043656">
                  <a:extLst>
                    <a:ext uri="{9D8B030D-6E8A-4147-A177-3AD203B41FA5}">
                      <a16:colId xmlns:a16="http://schemas.microsoft.com/office/drawing/2014/main" val="1483448315"/>
                    </a:ext>
                  </a:extLst>
                </a:gridCol>
                <a:gridCol w="1482212">
                  <a:extLst>
                    <a:ext uri="{9D8B030D-6E8A-4147-A177-3AD203B41FA5}">
                      <a16:colId xmlns:a16="http://schemas.microsoft.com/office/drawing/2014/main" val="319953435"/>
                    </a:ext>
                  </a:extLst>
                </a:gridCol>
                <a:gridCol w="1392381">
                  <a:extLst>
                    <a:ext uri="{9D8B030D-6E8A-4147-A177-3AD203B41FA5}">
                      <a16:colId xmlns:a16="http://schemas.microsoft.com/office/drawing/2014/main" val="3575232507"/>
                    </a:ext>
                  </a:extLst>
                </a:gridCol>
                <a:gridCol w="1190261">
                  <a:extLst>
                    <a:ext uri="{9D8B030D-6E8A-4147-A177-3AD203B41FA5}">
                      <a16:colId xmlns:a16="http://schemas.microsoft.com/office/drawing/2014/main" val="2640232737"/>
                    </a:ext>
                  </a:extLst>
                </a:gridCol>
              </a:tblGrid>
              <a:tr h="47149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Метрика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AS-IS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Изменение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TO-BE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547073"/>
                  </a:ext>
                </a:extLst>
              </a:tr>
              <a:tr h="334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Retention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80,60%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12%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90,27%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5099443"/>
                  </a:ext>
                </a:extLst>
              </a:tr>
              <a:tr h="334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LT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5,15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10,28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683149"/>
                  </a:ext>
                </a:extLst>
              </a:tr>
              <a:tr h="334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Price </a:t>
                      </a: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юнита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317,36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340,21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864618"/>
                  </a:ext>
                </a:extLst>
              </a:tr>
              <a:tr h="33433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Объём скидок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9,33%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-70%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2,80%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793654"/>
                  </a:ext>
                </a:extLst>
              </a:tr>
              <a:tr h="334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LTR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1 635,57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3 495,79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762072"/>
                  </a:ext>
                </a:extLst>
              </a:tr>
              <a:tr h="334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CAC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2 254,52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-65%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789,08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9913291"/>
                  </a:ext>
                </a:extLst>
              </a:tr>
              <a:tr h="334332">
                <a:tc gridSpan="4">
                  <a:txBody>
                    <a:bodyPr/>
                    <a:lstStyle/>
                    <a:p>
                      <a:pPr algn="ctr" fontAlgn="ctr"/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566814"/>
                  </a:ext>
                </a:extLst>
              </a:tr>
              <a:tr h="334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CAC </a:t>
                      </a: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на юнит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437,46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FFFF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76,79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3897338"/>
                  </a:ext>
                </a:extLst>
              </a:tr>
              <a:tr h="6543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Fixed Costs</a:t>
                      </a:r>
                      <a:b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на юнит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177,43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177,43 ₽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0297791"/>
                  </a:ext>
                </a:extLst>
              </a:tr>
              <a:tr h="334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CAC 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137,84%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22,57%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2794877"/>
                  </a:ext>
                </a:extLst>
              </a:tr>
              <a:tr h="3343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Fixed Costs 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55,91%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52,15%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232517"/>
                  </a:ext>
                </a:extLst>
              </a:tr>
              <a:tr h="334332">
                <a:tc gridSpan="4">
                  <a:txBody>
                    <a:bodyPr/>
                    <a:lstStyle/>
                    <a:p>
                      <a:pPr algn="ctr" fontAlgn="ctr"/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171431"/>
                  </a:ext>
                </a:extLst>
              </a:tr>
              <a:tr h="33433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Маржинальность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-93,75%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25,27%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5148031"/>
                  </a:ext>
                </a:extLst>
              </a:tr>
            </a:tbl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6A7756EB-3F65-4D6F-AE90-CB18E4CF80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4145765"/>
              </p:ext>
            </p:extLst>
          </p:nvPr>
        </p:nvGraphicFramePr>
        <p:xfrm>
          <a:off x="7465323" y="3776762"/>
          <a:ext cx="3792942" cy="2532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71574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ерево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TM03090434[[fn=Дерево]]</Template>
  <TotalTime>573</TotalTime>
  <Words>1021</Words>
  <Application>Microsoft Office PowerPoint</Application>
  <PresentationFormat>Широкоэкранный</PresentationFormat>
  <Paragraphs>246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</vt:lpstr>
      <vt:lpstr>Rockwell</vt:lpstr>
      <vt:lpstr>Rockwell Condensed</vt:lpstr>
      <vt:lpstr>Wingdings</vt:lpstr>
      <vt:lpstr>Дерево</vt:lpstr>
      <vt:lpstr>ОЦЕНКА ЭФФЕКТИВНОСТИ РАБОТЫ ОНЛАЙН-КИНОТЕАТРА</vt:lpstr>
      <vt:lpstr>Введение</vt:lpstr>
      <vt:lpstr>подписки</vt:lpstr>
      <vt:lpstr>подписчики</vt:lpstr>
      <vt:lpstr>просмотры</vt:lpstr>
      <vt:lpstr>Активность пользователей</vt:lpstr>
      <vt:lpstr>Популярность фильмов</vt:lpstr>
      <vt:lpstr>Экономика кинотеатра</vt:lpstr>
      <vt:lpstr>СЦЕНАРИЙ 1</vt:lpstr>
      <vt:lpstr>СЦЕНАРИЙ 2</vt:lpstr>
      <vt:lpstr>СЦЕНАРИЙ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ОЦЕНКА ЭФФЕКТИВНОСТИ РАБОТЫ ОНЛАЙН-КИНОТЕАТРА</dc:title>
  <dc:creator>Лыков Геннадий</dc:creator>
  <cp:lastModifiedBy>Gen L</cp:lastModifiedBy>
  <cp:revision>12</cp:revision>
  <dcterms:created xsi:type="dcterms:W3CDTF">2023-03-11T16:34:57Z</dcterms:created>
  <dcterms:modified xsi:type="dcterms:W3CDTF">2023-06-13T19:59:07Z</dcterms:modified>
</cp:coreProperties>
</file>